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603562" y="1087469"/>
            <a:ext cx="3936848" cy="617209"/>
          </a:xfrm>
          <a:prstGeom prst="rect">
            <a:avLst/>
          </a:prstGeom>
          <a:noFill/>
          <a:ln/>
        </p:spPr>
        <p:txBody>
          <a:bodyPr wrap="none" lIns="0" tIns="0" rIns="0" bIns="0" rtlCol="0" anchor="t">
            <a:spAutoFit/>
          </a:bodyPr>
          <a:lstStyle/>
          <a:p>
            <a:pPr algn="ctr" indent="0" marL="0">
              <a:lnSpc>
                <a:spcPts val="4900"/>
              </a:lnSpc>
              <a:buNone/>
            </a:pPr>
            <a:r>
              <a:rPr lang="en-US" sz="3731" b="1" spc="2" kern="0" dirty="0">
                <a:solidFill>
                  <a:srgbClr val="39FF14"/>
                </a:solidFill>
                <a:latin typeface="Noto Sans" pitchFamily="34" charset="0"/>
                <a:ea typeface="Noto Sans" pitchFamily="34" charset="-122"/>
                <a:cs typeface="Noto Sans" pitchFamily="34" charset="-120"/>
              </a:rPr>
              <a:t>OYUN PROJESİ</a:t>
            </a:r>
            <a:endParaRPr lang="en-US" sz="3731" dirty="0"/>
          </a:p>
        </p:txBody>
      </p:sp>
      <p:sp>
        <p:nvSpPr>
          <p:cNvPr id="4" name="Text 1"/>
          <p:cNvSpPr/>
          <p:nvPr/>
        </p:nvSpPr>
        <p:spPr>
          <a:xfrm>
            <a:off x="2603562" y="1776115"/>
            <a:ext cx="3936848" cy="617209"/>
          </a:xfrm>
          <a:prstGeom prst="rect">
            <a:avLst/>
          </a:prstGeom>
          <a:noFill/>
          <a:ln/>
        </p:spPr>
        <p:txBody>
          <a:bodyPr wrap="none" lIns="0" tIns="0" rIns="0" bIns="0" rtlCol="0" anchor="t">
            <a:spAutoFit/>
          </a:bodyPr>
          <a:lstStyle/>
          <a:p>
            <a:pPr algn="ctr" indent="0" marL="0">
              <a:lnSpc>
                <a:spcPts val="4900"/>
              </a:lnSpc>
              <a:buNone/>
            </a:pPr>
            <a:r>
              <a:rPr lang="en-US" sz="3731" b="1" spc="2" kern="0" dirty="0">
                <a:solidFill>
                  <a:srgbClr val="39FF14"/>
                </a:solidFill>
                <a:latin typeface="Noto Sans" pitchFamily="34" charset="0"/>
                <a:ea typeface="Noto Sans" pitchFamily="34" charset="-122"/>
                <a:cs typeface="Noto Sans" pitchFamily="34" charset="-120"/>
              </a:rPr>
              <a:t>ANALİZİ</a:t>
            </a:r>
            <a:endParaRPr lang="en-US" sz="3731" dirty="0"/>
          </a:p>
        </p:txBody>
      </p:sp>
      <p:sp>
        <p:nvSpPr>
          <p:cNvPr id="5" name="Text 2"/>
          <p:cNvSpPr/>
          <p:nvPr/>
        </p:nvSpPr>
        <p:spPr>
          <a:xfrm>
            <a:off x="2603562" y="2607636"/>
            <a:ext cx="3936848" cy="312539"/>
          </a:xfrm>
          <a:prstGeom prst="rect">
            <a:avLst/>
          </a:prstGeom>
          <a:noFill/>
          <a:ln/>
        </p:spPr>
        <p:txBody>
          <a:bodyPr wrap="none" lIns="0" tIns="0" rIns="0" bIns="0" rtlCol="0" anchor="t">
            <a:spAutoFit/>
          </a:bodyPr>
          <a:lstStyle/>
          <a:p>
            <a:pPr algn="ctr" indent="0" marL="0">
              <a:lnSpc>
                <a:spcPts val="2200"/>
              </a:lnSpc>
              <a:buNone/>
            </a:pPr>
            <a:r>
              <a:rPr lang="en-US" sz="1704" spc="2" kern="0" dirty="0">
                <a:solidFill>
                  <a:srgbClr val="00FF41"/>
                </a:solidFill>
                <a:latin typeface="Noto Sans" pitchFamily="34" charset="0"/>
                <a:ea typeface="Noto Sans" pitchFamily="34" charset="-122"/>
                <a:cs typeface="Noto Sans" pitchFamily="34" charset="-120"/>
              </a:rPr>
              <a:t>Dalga Tabanlı Savunma Oyunu</a:t>
            </a:r>
            <a:endParaRPr lang="en-US" sz="1704" dirty="0"/>
          </a:p>
        </p:txBody>
      </p:sp>
      <p:sp>
        <p:nvSpPr>
          <p:cNvPr id="6" name="Text 3"/>
          <p:cNvSpPr/>
          <p:nvPr/>
        </p:nvSpPr>
        <p:spPr>
          <a:xfrm>
            <a:off x="2603562" y="3063050"/>
            <a:ext cx="3936848" cy="228600"/>
          </a:xfrm>
          <a:prstGeom prst="rect">
            <a:avLst/>
          </a:prstGeom>
          <a:noFill/>
          <a:ln/>
        </p:spPr>
        <p:txBody>
          <a:bodyPr wrap="none" lIns="0" tIns="0" rIns="0" bIns="0" rtlCol="0" anchor="t">
            <a:spAutoFit/>
          </a:bodyPr>
          <a:lstStyle/>
          <a:p>
            <a:pPr algn="ctr" indent="0" marL="0">
              <a:lnSpc>
                <a:spcPts val="1800"/>
              </a:lnSpc>
              <a:buNone/>
            </a:pPr>
            <a:r>
              <a:rPr lang="en-US" sz="1050" spc="1" kern="0" dirty="0">
                <a:solidFill>
                  <a:srgbClr val="7FFF00"/>
                </a:solidFill>
                <a:latin typeface="Noto Sans" pitchFamily="34" charset="0"/>
                <a:ea typeface="Noto Sans" pitchFamily="34" charset="-122"/>
                <a:cs typeface="Noto Sans" pitchFamily="34" charset="-120"/>
              </a:rPr>
              <a:t>Teknik Mekanik İncelemesi</a:t>
            </a:r>
            <a:endParaRPr lang="en-US" sz="1050" dirty="0"/>
          </a:p>
        </p:txBody>
      </p:sp>
      <p:sp>
        <p:nvSpPr>
          <p:cNvPr id="7" name="Text 4"/>
          <p:cNvSpPr/>
          <p:nvPr/>
        </p:nvSpPr>
        <p:spPr>
          <a:xfrm>
            <a:off x="2603562" y="3648838"/>
            <a:ext cx="3936848" cy="407194"/>
          </a:xfrm>
          <a:prstGeom prst="rect">
            <a:avLst/>
          </a:prstGeom>
          <a:noFill/>
          <a:ln/>
        </p:spPr>
        <p:txBody>
          <a:bodyPr wrap="square" lIns="0" tIns="0" rIns="0" bIns="0" rtlCol="0" anchor="t">
            <a:spAutoFit/>
          </a:bodyPr>
          <a:lstStyle/>
          <a:p>
            <a:pPr algn="ctr" indent="0" marL="0">
              <a:lnSpc>
                <a:spcPts val="900"/>
              </a:lnSpc>
              <a:buNone/>
            </a:pPr>
            <a:r>
              <a:rPr lang="en-US" sz="727" spc="1" kern="0" dirty="0">
                <a:solidFill>
                  <a:srgbClr val="7FFF00">
                    <a:alpha val="80000"/>
                  </a:srgbClr>
                </a:solidFill>
                <a:latin typeface="Noto Sans" pitchFamily="34" charset="0"/>
                <a:ea typeface="Noto Sans" pitchFamily="34" charset="-122"/>
                <a:cs typeface="Noto Sans" pitchFamily="34" charset="-120"/>
              </a:rPr>
              <a:t>&gt; SYSTEM INITIALIZED</a:t>
            </a:r>
            <a:pPr algn="ctr" indent="0" marL="0">
              <a:lnSpc>
                <a:spcPts val="900"/>
              </a:lnSpc>
              <a:buNone/>
            </a:pPr>
            <a:r>
              <a:rPr lang="en-US" sz="727" spc="1" kern="0" dirty="0">
                <a:solidFill>
                  <a:srgbClr val="7FFF00">
                    <a:alpha val="80000"/>
                  </a:srgbClr>
                </a:solidFill>
                <a:latin typeface="Noto Sans" pitchFamily="34" charset="0"/>
                <a:ea typeface="Noto Sans" pitchFamily="34" charset="-122"/>
                <a:cs typeface="Noto Sans" pitchFamily="34" charset="-120"/>
              </a:rPr>
              <a:t>
</a:t>
            </a:r>
            <a:pPr algn="ctr" indent="0" marL="0">
              <a:lnSpc>
                <a:spcPts val="900"/>
              </a:lnSpc>
              <a:buNone/>
            </a:pPr>
            <a:r>
              <a:rPr lang="en-US" sz="727" spc="1" kern="0" dirty="0">
                <a:solidFill>
                  <a:srgbClr val="7FFF00">
                    <a:alpha val="80000"/>
                  </a:srgbClr>
                </a:solidFill>
                <a:latin typeface="Noto Sans" pitchFamily="34" charset="0"/>
                <a:ea typeface="Noto Sans" pitchFamily="34" charset="-122"/>
                <a:cs typeface="Noto Sans" pitchFamily="34" charset="-120"/>
              </a:rPr>
              <a:t> &gt; ARCADE TERMINAL v1.0</a:t>
            </a:r>
            <a:pPr algn="ctr" indent="0" marL="0">
              <a:lnSpc>
                <a:spcPts val="900"/>
              </a:lnSpc>
              <a:buNone/>
            </a:pPr>
            <a:r>
              <a:rPr lang="en-US" sz="727" spc="1" kern="0" dirty="0">
                <a:solidFill>
                  <a:srgbClr val="7FFF00">
                    <a:alpha val="80000"/>
                  </a:srgbClr>
                </a:solidFill>
                <a:latin typeface="Noto Sans" pitchFamily="34" charset="0"/>
                <a:ea typeface="Noto Sans" pitchFamily="34" charset="-122"/>
                <a:cs typeface="Noto Sans" pitchFamily="34" charset="-120"/>
              </a:rPr>
              <a:t>
</a:t>
            </a:r>
            <a:pPr algn="ctr" indent="0" marL="0">
              <a:lnSpc>
                <a:spcPts val="900"/>
              </a:lnSpc>
              <a:buNone/>
            </a:pPr>
            <a:r>
              <a:rPr lang="en-US" sz="727" spc="1" kern="0" dirty="0">
                <a:solidFill>
                  <a:srgbClr val="7FFF00">
                    <a:alpha val="80000"/>
                  </a:srgbClr>
                </a:solidFill>
                <a:latin typeface="Noto Sans" pitchFamily="34" charset="0"/>
                <a:ea typeface="Noto Sans" pitchFamily="34" charset="-122"/>
                <a:cs typeface="Noto Sans" pitchFamily="34" charset="-120"/>
              </a:rPr>
              <a:t> &gt; READY FOR ANALYSIS</a:t>
            </a:r>
            <a:endParaRPr lang="en-US" sz="72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85750" y="984442"/>
            <a:ext cx="5286375" cy="389334"/>
          </a:xfrm>
          <a:prstGeom prst="rect">
            <a:avLst/>
          </a:prstGeom>
          <a:noFill/>
          <a:ln/>
        </p:spPr>
        <p:txBody>
          <a:bodyPr wrap="none" lIns="0" tIns="0" rIns="0" bIns="0" rtlCol="0" anchor="t">
            <a:spAutoFit/>
          </a:bodyPr>
          <a:lstStyle/>
          <a:p>
            <a:pPr algn="l" indent="0" marL="0">
              <a:lnSpc>
                <a:spcPts val="2700"/>
              </a:lnSpc>
              <a:buNone/>
            </a:pPr>
            <a:r>
              <a:rPr lang="en-US" sz="2016" b="1" spc="2" kern="0" dirty="0">
                <a:solidFill>
                  <a:srgbClr val="39FF14"/>
                </a:solidFill>
                <a:latin typeface="Noto Sans" pitchFamily="34" charset="0"/>
                <a:ea typeface="Noto Sans" pitchFamily="34" charset="-122"/>
                <a:cs typeface="Noto Sans" pitchFamily="34" charset="-120"/>
              </a:rPr>
              <a:t>PROJE ÖZETİ</a:t>
            </a:r>
            <a:endParaRPr lang="en-US" sz="2016" dirty="0"/>
          </a:p>
        </p:txBody>
      </p:sp>
      <p:sp>
        <p:nvSpPr>
          <p:cNvPr id="4" name="Text 1"/>
          <p:cNvSpPr/>
          <p:nvPr/>
        </p:nvSpPr>
        <p:spPr>
          <a:xfrm>
            <a:off x="285750" y="1552370"/>
            <a:ext cx="5286375" cy="175022"/>
          </a:xfrm>
          <a:prstGeom prst="rect">
            <a:avLst/>
          </a:prstGeom>
          <a:noFill/>
          <a:ln/>
        </p:spPr>
        <p:txBody>
          <a:bodyPr wrap="none" lIns="0" tIns="0" rIns="0" bIns="0" rtlCol="0" anchor="t">
            <a:spAutoFit/>
          </a:bodyPr>
          <a:lstStyle/>
          <a:p>
            <a:pPr algn="l" indent="0" marL="0">
              <a:lnSpc>
                <a:spcPts val="1200"/>
              </a:lnSpc>
              <a:buNone/>
            </a:pPr>
            <a:r>
              <a:rPr lang="en-US" sz="885" b="1" spc="1" kern="0" dirty="0">
                <a:solidFill>
                  <a:srgbClr val="00FF41"/>
                </a:solidFill>
                <a:latin typeface="Noto Sans" pitchFamily="34" charset="0"/>
                <a:ea typeface="Noto Sans" pitchFamily="34" charset="-122"/>
                <a:cs typeface="Noto Sans" pitchFamily="34" charset="-120"/>
              </a:rPr>
              <a:t>OYUN KONSEPTI</a:t>
            </a:r>
            <a:endParaRPr lang="en-US" sz="885" dirty="0"/>
          </a:p>
        </p:txBody>
      </p:sp>
      <p:sp>
        <p:nvSpPr>
          <p:cNvPr id="5" name="Text 2"/>
          <p:cNvSpPr/>
          <p:nvPr/>
        </p:nvSpPr>
        <p:spPr>
          <a:xfrm>
            <a:off x="285750" y="1798830"/>
            <a:ext cx="5286375" cy="411435"/>
          </a:xfrm>
          <a:prstGeom prst="rect">
            <a:avLst/>
          </a:prstGeom>
          <a:noFill/>
          <a:ln/>
        </p:spPr>
        <p:txBody>
          <a:bodyPr wrap="square" lIns="0" tIns="0" rIns="0" bIns="0" rtlCol="0" anchor="t">
            <a:spAutoFit/>
          </a:bodyPr>
          <a:lstStyle/>
          <a:p>
            <a:pPr algn="l" indent="0" marL="0">
              <a:lnSpc>
                <a:spcPts val="1600"/>
              </a:lnSpc>
              <a:buNone/>
            </a:pPr>
            <a:r>
              <a:rPr lang="en-US" sz="834" dirty="0">
                <a:solidFill>
                  <a:srgbClr val="7FFF00"/>
                </a:solidFill>
                <a:latin typeface="Noto Sans" pitchFamily="34" charset="0"/>
                <a:ea typeface="Noto Sans" pitchFamily="34" charset="-122"/>
                <a:cs typeface="Noto Sans" pitchFamily="34" charset="-120"/>
              </a:rPr>
              <a:t>Oyuncu (Sarı Küp), Base'i (Mavi Küp) dalgalar halinde gelen düşmanlara (Beyaz Küreler) karşı korur.</a:t>
            </a:r>
            <a:endParaRPr lang="en-US" sz="834" dirty="0"/>
          </a:p>
        </p:txBody>
      </p:sp>
      <p:sp>
        <p:nvSpPr>
          <p:cNvPr id="6" name="Text 3"/>
          <p:cNvSpPr/>
          <p:nvPr/>
        </p:nvSpPr>
        <p:spPr>
          <a:xfrm>
            <a:off x="285750" y="2353140"/>
            <a:ext cx="5286375" cy="175022"/>
          </a:xfrm>
          <a:prstGeom prst="rect">
            <a:avLst/>
          </a:prstGeom>
          <a:noFill/>
          <a:ln/>
        </p:spPr>
        <p:txBody>
          <a:bodyPr wrap="none" lIns="0" tIns="0" rIns="0" bIns="0" rtlCol="0" anchor="t">
            <a:spAutoFit/>
          </a:bodyPr>
          <a:lstStyle/>
          <a:p>
            <a:pPr algn="l" indent="0" marL="0">
              <a:lnSpc>
                <a:spcPts val="1200"/>
              </a:lnSpc>
              <a:buNone/>
            </a:pPr>
            <a:r>
              <a:rPr lang="en-US" sz="885" b="1" spc="1" kern="0" dirty="0">
                <a:solidFill>
                  <a:srgbClr val="00FF41"/>
                </a:solidFill>
                <a:latin typeface="Noto Sans" pitchFamily="34" charset="0"/>
                <a:ea typeface="Noto Sans" pitchFamily="34" charset="-122"/>
                <a:cs typeface="Noto Sans" pitchFamily="34" charset="-120"/>
              </a:rPr>
              <a:t>TEMEL MEKANİKLER</a:t>
            </a:r>
            <a:endParaRPr lang="en-US" sz="885" dirty="0"/>
          </a:p>
        </p:txBody>
      </p:sp>
      <p:sp>
        <p:nvSpPr>
          <p:cNvPr id="7" name="Text 4"/>
          <p:cNvSpPr/>
          <p:nvPr/>
        </p:nvSpPr>
        <p:spPr>
          <a:xfrm>
            <a:off x="428625" y="2599599"/>
            <a:ext cx="5143500" cy="171450"/>
          </a:xfrm>
          <a:prstGeom prst="rect">
            <a:avLst/>
          </a:prstGeom>
          <a:noFill/>
          <a:ln/>
        </p:spPr>
        <p:txBody>
          <a:bodyPr wrap="none" lIns="0" tIns="0" rIns="0" bIns="0" rtlCol="0" anchor="t">
            <a:spAutoFit/>
          </a:bodyPr>
          <a:lstStyle/>
          <a:p>
            <a:pPr algn="l" indent="0" marL="0">
              <a:lnSpc>
                <a:spcPts val="1400"/>
              </a:lnSpc>
              <a:buNone/>
            </a:pPr>
            <a:r>
              <a:rPr lang="en-US" sz="780" dirty="0">
                <a:solidFill>
                  <a:srgbClr val="7FFF00"/>
                </a:solidFill>
                <a:latin typeface="Noto Sans" pitchFamily="34" charset="0"/>
                <a:ea typeface="Noto Sans" pitchFamily="34" charset="-122"/>
                <a:cs typeface="Noto Sans" pitchFamily="34" charset="-120"/>
              </a:rPr>
              <a:t>Wave Sistemi: Her 1 dakikada dalga atlanır</a:t>
            </a:r>
            <a:endParaRPr lang="en-US" sz="780" dirty="0"/>
          </a:p>
        </p:txBody>
      </p:sp>
      <p:sp>
        <p:nvSpPr>
          <p:cNvPr id="8" name="Text 5"/>
          <p:cNvSpPr/>
          <p:nvPr/>
        </p:nvSpPr>
        <p:spPr>
          <a:xfrm>
            <a:off x="428625" y="2828199"/>
            <a:ext cx="5143500" cy="171450"/>
          </a:xfrm>
          <a:prstGeom prst="rect">
            <a:avLst/>
          </a:prstGeom>
          <a:noFill/>
          <a:ln/>
        </p:spPr>
        <p:txBody>
          <a:bodyPr wrap="none" lIns="0" tIns="0" rIns="0" bIns="0" rtlCol="0" anchor="t">
            <a:spAutoFit/>
          </a:bodyPr>
          <a:lstStyle/>
          <a:p>
            <a:pPr algn="l" indent="0" marL="0">
              <a:lnSpc>
                <a:spcPts val="1400"/>
              </a:lnSpc>
              <a:buNone/>
            </a:pPr>
            <a:r>
              <a:rPr lang="en-US" sz="780" dirty="0">
                <a:solidFill>
                  <a:srgbClr val="7FFF00"/>
                </a:solidFill>
                <a:latin typeface="Noto Sans" pitchFamily="34" charset="0"/>
                <a:ea typeface="Noto Sans" pitchFamily="34" charset="-122"/>
                <a:cs typeface="Noto Sans" pitchFamily="34" charset="-120"/>
              </a:rPr>
              <a:t>Düşman Sayısı: Dalga ilerledikçe artar</a:t>
            </a:r>
            <a:endParaRPr lang="en-US" sz="780" dirty="0"/>
          </a:p>
        </p:txBody>
      </p:sp>
      <p:sp>
        <p:nvSpPr>
          <p:cNvPr id="9" name="Text 6"/>
          <p:cNvSpPr/>
          <p:nvPr/>
        </p:nvSpPr>
        <p:spPr>
          <a:xfrm>
            <a:off x="428625" y="3056799"/>
            <a:ext cx="5143500" cy="171450"/>
          </a:xfrm>
          <a:prstGeom prst="rect">
            <a:avLst/>
          </a:prstGeom>
          <a:noFill/>
          <a:ln/>
        </p:spPr>
        <p:txBody>
          <a:bodyPr wrap="none" lIns="0" tIns="0" rIns="0" bIns="0" rtlCol="0" anchor="t">
            <a:spAutoFit/>
          </a:bodyPr>
          <a:lstStyle/>
          <a:p>
            <a:pPr algn="l" indent="0" marL="0">
              <a:lnSpc>
                <a:spcPts val="1400"/>
              </a:lnSpc>
              <a:buNone/>
            </a:pPr>
            <a:r>
              <a:rPr lang="en-US" sz="780" dirty="0">
                <a:solidFill>
                  <a:srgbClr val="7FFF00"/>
                </a:solidFill>
                <a:latin typeface="Noto Sans" pitchFamily="34" charset="0"/>
                <a:ea typeface="Noto Sans" pitchFamily="34" charset="-122"/>
                <a:cs typeface="Noto Sans" pitchFamily="34" charset="-120"/>
              </a:rPr>
              <a:t>Oyuncu Kontrolü: Space ile ateş, LeftShift ile hızlı mod</a:t>
            </a:r>
            <a:endParaRPr lang="en-US" sz="780" dirty="0"/>
          </a:p>
        </p:txBody>
      </p:sp>
      <p:sp>
        <p:nvSpPr>
          <p:cNvPr id="10" name="Text 7"/>
          <p:cNvSpPr/>
          <p:nvPr/>
        </p:nvSpPr>
        <p:spPr>
          <a:xfrm>
            <a:off x="428625" y="3285399"/>
            <a:ext cx="5143500" cy="171450"/>
          </a:xfrm>
          <a:prstGeom prst="rect">
            <a:avLst/>
          </a:prstGeom>
          <a:noFill/>
          <a:ln/>
        </p:spPr>
        <p:txBody>
          <a:bodyPr wrap="none" lIns="0" tIns="0" rIns="0" bIns="0" rtlCol="0" anchor="t">
            <a:spAutoFit/>
          </a:bodyPr>
          <a:lstStyle/>
          <a:p>
            <a:pPr algn="l" indent="0" marL="0">
              <a:lnSpc>
                <a:spcPts val="1400"/>
              </a:lnSpc>
              <a:buNone/>
            </a:pPr>
            <a:r>
              <a:rPr lang="en-US" sz="780" dirty="0">
                <a:solidFill>
                  <a:srgbClr val="7FFF00"/>
                </a:solidFill>
                <a:latin typeface="Noto Sans" pitchFamily="34" charset="0"/>
                <a:ea typeface="Noto Sans" pitchFamily="34" charset="-122"/>
                <a:cs typeface="Noto Sans" pitchFamily="34" charset="-120"/>
              </a:rPr>
              <a:t>Puan Sistemi: Her düşman 10 puan değerinde</a:t>
            </a:r>
            <a:endParaRPr lang="en-US" sz="780" dirty="0"/>
          </a:p>
        </p:txBody>
      </p:sp>
      <p:sp>
        <p:nvSpPr>
          <p:cNvPr id="11" name="Text 8"/>
          <p:cNvSpPr/>
          <p:nvPr/>
        </p:nvSpPr>
        <p:spPr>
          <a:xfrm>
            <a:off x="285750" y="3599724"/>
            <a:ext cx="5286375" cy="175022"/>
          </a:xfrm>
          <a:prstGeom prst="rect">
            <a:avLst/>
          </a:prstGeom>
          <a:noFill/>
          <a:ln/>
        </p:spPr>
        <p:txBody>
          <a:bodyPr wrap="none" lIns="0" tIns="0" rIns="0" bIns="0" rtlCol="0" anchor="t">
            <a:spAutoFit/>
          </a:bodyPr>
          <a:lstStyle/>
          <a:p>
            <a:pPr algn="l" indent="0" marL="0">
              <a:lnSpc>
                <a:spcPts val="1200"/>
              </a:lnSpc>
              <a:buNone/>
            </a:pPr>
            <a:r>
              <a:rPr lang="en-US" sz="885" b="1" spc="1" kern="0" dirty="0">
                <a:solidFill>
                  <a:srgbClr val="00FF41"/>
                </a:solidFill>
                <a:latin typeface="Noto Sans" pitchFamily="34" charset="0"/>
                <a:ea typeface="Noto Sans" pitchFamily="34" charset="-122"/>
                <a:cs typeface="Noto Sans" pitchFamily="34" charset="-120"/>
              </a:rPr>
              <a:t>ZORLUK ARTIŞI</a:t>
            </a:r>
            <a:endParaRPr lang="en-US" sz="885" dirty="0"/>
          </a:p>
        </p:txBody>
      </p:sp>
      <p:sp>
        <p:nvSpPr>
          <p:cNvPr id="12" name="Text 9"/>
          <p:cNvSpPr/>
          <p:nvPr/>
        </p:nvSpPr>
        <p:spPr>
          <a:xfrm>
            <a:off x="285750" y="3846184"/>
            <a:ext cx="5286375" cy="205718"/>
          </a:xfrm>
          <a:prstGeom prst="rect">
            <a:avLst/>
          </a:prstGeom>
          <a:noFill/>
          <a:ln/>
        </p:spPr>
        <p:txBody>
          <a:bodyPr wrap="none" lIns="0" tIns="0" rIns="0" bIns="0" rtlCol="0" anchor="t">
            <a:spAutoFit/>
          </a:bodyPr>
          <a:lstStyle/>
          <a:p>
            <a:pPr algn="l" indent="0" marL="0">
              <a:lnSpc>
                <a:spcPts val="1600"/>
              </a:lnSpc>
              <a:buNone/>
            </a:pPr>
            <a:r>
              <a:rPr lang="en-US" sz="834" dirty="0">
                <a:solidFill>
                  <a:srgbClr val="7FFF00"/>
                </a:solidFill>
                <a:latin typeface="Noto Sans" pitchFamily="34" charset="0"/>
                <a:ea typeface="Noto Sans" pitchFamily="34" charset="-122"/>
                <a:cs typeface="Noto Sans" pitchFamily="34" charset="-120"/>
              </a:rPr>
              <a:t>Dalga geçişlerinde düşman hızı ve sayısı dinamik olarak artırılır, oyunu giderek zorlaştırır.</a:t>
            </a:r>
            <a:endParaRPr lang="en-US" sz="834" dirty="0"/>
          </a:p>
        </p:txBody>
      </p:sp>
      <p:pic>
        <p:nvPicPr>
          <p:cNvPr id="13" name="Image 1" descr="preencoded.png">    </p:cNvPr>
          <p:cNvPicPr>
            <a:picLocks noChangeAspect="1"/>
          </p:cNvPicPr>
          <p:nvPr/>
        </p:nvPicPr>
        <p:blipFill>
          <a:blip r:embed="rId2"/>
          <a:stretch>
            <a:fillRect/>
          </a:stretch>
        </p:blipFill>
        <p:spPr>
          <a:xfrm>
            <a:off x="6000750" y="1834242"/>
            <a:ext cx="2857500" cy="14750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000125" y="399604"/>
            <a:ext cx="7143750" cy="389334"/>
          </a:xfrm>
          <a:prstGeom prst="rect">
            <a:avLst/>
          </a:prstGeom>
          <a:noFill/>
          <a:ln/>
        </p:spPr>
        <p:txBody>
          <a:bodyPr wrap="none" lIns="0" tIns="0" rIns="0" bIns="0" rtlCol="0" anchor="t">
            <a:spAutoFit/>
          </a:bodyPr>
          <a:lstStyle/>
          <a:p>
            <a:pPr algn="ctr" indent="0" marL="0">
              <a:lnSpc>
                <a:spcPts val="2700"/>
              </a:lnSpc>
              <a:buNone/>
            </a:pPr>
            <a:r>
              <a:rPr lang="en-US" sz="2016" b="1" spc="2" kern="0" dirty="0">
                <a:solidFill>
                  <a:srgbClr val="39FF14"/>
                </a:solidFill>
                <a:latin typeface="Noto Sans" pitchFamily="34" charset="0"/>
                <a:ea typeface="Noto Sans" pitchFamily="34" charset="-122"/>
                <a:cs typeface="Noto Sans" pitchFamily="34" charset="-120"/>
              </a:rPr>
              <a:t>TEMEL OYNANIS MEKANİKLERİ</a:t>
            </a:r>
            <a:endParaRPr lang="en-US" sz="2016" dirty="0"/>
          </a:p>
        </p:txBody>
      </p:sp>
      <p:sp>
        <p:nvSpPr>
          <p:cNvPr id="4" name="Shape 1"/>
          <p:cNvSpPr/>
          <p:nvPr/>
        </p:nvSpPr>
        <p:spPr>
          <a:xfrm>
            <a:off x="1000125" y="1038969"/>
            <a:ext cx="3482578" cy="895424"/>
          </a:xfrm>
          <a:prstGeom prst="rect">
            <a:avLst/>
          </a:prstGeom>
          <a:solidFill>
            <a:srgbClr val="1A1A1A"/>
          </a:solidFill>
          <a:ln w="198">
            <a:solidFill>
              <a:srgbClr val="39FF14"/>
            </a:solidFill>
            <a:prstDash val="solid"/>
          </a:ln>
        </p:spPr>
      </p:sp>
      <p:sp>
        <p:nvSpPr>
          <p:cNvPr id="5" name="Text 2"/>
          <p:cNvSpPr/>
          <p:nvPr/>
        </p:nvSpPr>
        <p:spPr>
          <a:xfrm>
            <a:off x="1143000" y="1181844"/>
            <a:ext cx="319682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WAVE SİSTEMİ</a:t>
            </a:r>
            <a:endParaRPr lang="en-US" sz="784" dirty="0"/>
          </a:p>
        </p:txBody>
      </p:sp>
      <p:sp>
        <p:nvSpPr>
          <p:cNvPr id="6" name="Text 3"/>
          <p:cNvSpPr/>
          <p:nvPr/>
        </p:nvSpPr>
        <p:spPr>
          <a:xfrm>
            <a:off x="1143000" y="1422946"/>
            <a:ext cx="3196828" cy="33999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Her 1 dakikada bir dalga atlanır. Dalga sayısı arttıkça düşman sayısı ve hızı dinamik olarak artırılır.</a:t>
            </a:r>
            <a:endParaRPr lang="en-US" sz="727" dirty="0"/>
          </a:p>
        </p:txBody>
      </p:sp>
      <p:sp>
        <p:nvSpPr>
          <p:cNvPr id="7" name="Shape 4"/>
          <p:cNvSpPr/>
          <p:nvPr/>
        </p:nvSpPr>
        <p:spPr>
          <a:xfrm>
            <a:off x="4661297" y="1038969"/>
            <a:ext cx="3482578" cy="895424"/>
          </a:xfrm>
          <a:prstGeom prst="rect">
            <a:avLst/>
          </a:prstGeom>
          <a:solidFill>
            <a:srgbClr val="1A1A1A"/>
          </a:solidFill>
          <a:ln w="198">
            <a:solidFill>
              <a:srgbClr val="39FF14"/>
            </a:solidFill>
            <a:prstDash val="solid"/>
          </a:ln>
        </p:spPr>
      </p:sp>
      <p:sp>
        <p:nvSpPr>
          <p:cNvPr id="8" name="Text 5"/>
          <p:cNvSpPr/>
          <p:nvPr/>
        </p:nvSpPr>
        <p:spPr>
          <a:xfrm>
            <a:off x="4804172" y="1196132"/>
            <a:ext cx="319682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OYUNCU KONTROLÜ</a:t>
            </a:r>
            <a:endParaRPr lang="en-US" sz="784" dirty="0"/>
          </a:p>
        </p:txBody>
      </p:sp>
      <p:sp>
        <p:nvSpPr>
          <p:cNvPr id="9" name="Text 6"/>
          <p:cNvSpPr/>
          <p:nvPr/>
        </p:nvSpPr>
        <p:spPr>
          <a:xfrm>
            <a:off x="4804172" y="1437233"/>
            <a:ext cx="3196828" cy="33999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Sarı Küp oyuncuyu temsil eder. W/A/S/D veya yön tuşları ile hareket, fare ile dönüş yapılır.</a:t>
            </a:r>
            <a:endParaRPr lang="en-US" sz="727" dirty="0"/>
          </a:p>
        </p:txBody>
      </p:sp>
      <p:sp>
        <p:nvSpPr>
          <p:cNvPr id="10" name="Shape 7"/>
          <p:cNvSpPr/>
          <p:nvPr/>
        </p:nvSpPr>
        <p:spPr>
          <a:xfrm>
            <a:off x="1000125" y="2098700"/>
            <a:ext cx="3482578" cy="895424"/>
          </a:xfrm>
          <a:prstGeom prst="rect">
            <a:avLst/>
          </a:prstGeom>
          <a:solidFill>
            <a:srgbClr val="1A1A1A"/>
          </a:solidFill>
          <a:ln w="198">
            <a:solidFill>
              <a:srgbClr val="39FF14"/>
            </a:solidFill>
            <a:prstDash val="solid"/>
          </a:ln>
        </p:spPr>
      </p:sp>
      <p:sp>
        <p:nvSpPr>
          <p:cNvPr id="11" name="Text 8"/>
          <p:cNvSpPr/>
          <p:nvPr/>
        </p:nvSpPr>
        <p:spPr>
          <a:xfrm>
            <a:off x="1143000" y="2241575"/>
            <a:ext cx="319682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ATEŞ ETME</a:t>
            </a:r>
            <a:endParaRPr lang="en-US" sz="784" dirty="0"/>
          </a:p>
        </p:txBody>
      </p:sp>
      <p:sp>
        <p:nvSpPr>
          <p:cNvPr id="12" name="Text 9"/>
          <p:cNvSpPr/>
          <p:nvPr/>
        </p:nvSpPr>
        <p:spPr>
          <a:xfrm>
            <a:off x="1143000" y="2482676"/>
            <a:ext cx="3196828" cy="33999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Space tuşu ile mermi atılır. Her mermi 10 birim hızla ileriye doğru hareket eder ve 5 saniye sonra yok olur.</a:t>
            </a:r>
            <a:endParaRPr lang="en-US" sz="727" dirty="0"/>
          </a:p>
        </p:txBody>
      </p:sp>
      <p:sp>
        <p:nvSpPr>
          <p:cNvPr id="13" name="Shape 10"/>
          <p:cNvSpPr/>
          <p:nvPr/>
        </p:nvSpPr>
        <p:spPr>
          <a:xfrm>
            <a:off x="4661297" y="2098700"/>
            <a:ext cx="3482578" cy="895424"/>
          </a:xfrm>
          <a:prstGeom prst="rect">
            <a:avLst/>
          </a:prstGeom>
          <a:solidFill>
            <a:srgbClr val="1A1A1A"/>
          </a:solidFill>
          <a:ln w="198">
            <a:solidFill>
              <a:srgbClr val="39FF14"/>
            </a:solidFill>
            <a:prstDash val="solid"/>
          </a:ln>
        </p:spPr>
      </p:sp>
      <p:sp>
        <p:nvSpPr>
          <p:cNvPr id="14" name="Text 11"/>
          <p:cNvSpPr/>
          <p:nvPr/>
        </p:nvSpPr>
        <p:spPr>
          <a:xfrm>
            <a:off x="4804172" y="2255862"/>
            <a:ext cx="319682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PUAN SİSTEMİ</a:t>
            </a:r>
            <a:endParaRPr lang="en-US" sz="784" dirty="0"/>
          </a:p>
        </p:txBody>
      </p:sp>
      <p:sp>
        <p:nvSpPr>
          <p:cNvPr id="15" name="Text 12"/>
          <p:cNvSpPr/>
          <p:nvPr/>
        </p:nvSpPr>
        <p:spPr>
          <a:xfrm>
            <a:off x="4804172" y="2496964"/>
            <a:ext cx="3196828" cy="33999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Her düşman 10 puan değerindedir. Mermiler düşmanlara çarptığında puan eklenir ve ekranda güncellenir.</a:t>
            </a:r>
            <a:endParaRPr lang="en-US" sz="727" dirty="0"/>
          </a:p>
        </p:txBody>
      </p:sp>
      <p:sp>
        <p:nvSpPr>
          <p:cNvPr id="16" name="Shape 13"/>
          <p:cNvSpPr/>
          <p:nvPr/>
        </p:nvSpPr>
        <p:spPr>
          <a:xfrm>
            <a:off x="1000125" y="3158430"/>
            <a:ext cx="7143750" cy="1378297"/>
          </a:xfrm>
          <a:prstGeom prst="rect">
            <a:avLst/>
          </a:prstGeom>
          <a:solidFill>
            <a:srgbClr val="1A1A1A"/>
          </a:solidFill>
          <a:ln w="198">
            <a:solidFill>
              <a:srgbClr val="39FF14"/>
            </a:solidFill>
            <a:prstDash val="solid"/>
          </a:ln>
        </p:spPr>
      </p:sp>
      <p:sp>
        <p:nvSpPr>
          <p:cNvPr id="17" name="Text 14"/>
          <p:cNvSpPr/>
          <p:nvPr/>
        </p:nvSpPr>
        <p:spPr>
          <a:xfrm>
            <a:off x="1143000" y="3315593"/>
            <a:ext cx="6858000"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TARAMAYLI MOD (BURST FIRE)</a:t>
            </a:r>
            <a:endParaRPr lang="en-US" sz="784" dirty="0"/>
          </a:p>
        </p:txBody>
      </p:sp>
      <p:sp>
        <p:nvSpPr>
          <p:cNvPr id="18" name="Text 15"/>
          <p:cNvSpPr/>
          <p:nvPr/>
        </p:nvSpPr>
        <p:spPr>
          <a:xfrm>
            <a:off x="1143000" y="3556695"/>
            <a:ext cx="6858000" cy="148568"/>
          </a:xfrm>
          <a:prstGeom prst="rect">
            <a:avLst/>
          </a:prstGeom>
          <a:noFill/>
          <a:ln/>
        </p:spPr>
        <p:txBody>
          <a:bodyPr wrap="none" lIns="127508"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LeftShift tuşu ile etkinleştirilir</a:t>
            </a:r>
            <a:endParaRPr lang="en-US" sz="674" dirty="0"/>
          </a:p>
        </p:txBody>
      </p:sp>
      <p:sp>
        <p:nvSpPr>
          <p:cNvPr id="19" name="Text 16"/>
          <p:cNvSpPr/>
          <p:nvPr/>
        </p:nvSpPr>
        <p:spPr>
          <a:xfrm>
            <a:off x="1143000" y="3762412"/>
            <a:ext cx="6858000" cy="148568"/>
          </a:xfrm>
          <a:prstGeom prst="rect">
            <a:avLst/>
          </a:prstGeom>
          <a:noFill/>
          <a:ln/>
        </p:spPr>
        <p:txBody>
          <a:bodyPr wrap="none" lIns="127508"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5 saniye boyunca hızlı ateş yapılabilir</a:t>
            </a:r>
            <a:endParaRPr lang="en-US" sz="674" dirty="0"/>
          </a:p>
        </p:txBody>
      </p:sp>
      <p:sp>
        <p:nvSpPr>
          <p:cNvPr id="20" name="Text 17"/>
          <p:cNvSpPr/>
          <p:nvPr/>
        </p:nvSpPr>
        <p:spPr>
          <a:xfrm>
            <a:off x="1143000" y="3968130"/>
            <a:ext cx="6858000" cy="148568"/>
          </a:xfrm>
          <a:prstGeom prst="rect">
            <a:avLst/>
          </a:prstGeom>
          <a:noFill/>
          <a:ln/>
        </p:spPr>
        <p:txBody>
          <a:bodyPr wrap="none" lIns="127508"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Kullanım sonrası 10 saniye bekleme süresi (cooldown)</a:t>
            </a:r>
            <a:endParaRPr lang="en-US" sz="674" dirty="0"/>
          </a:p>
        </p:txBody>
      </p:sp>
      <p:sp>
        <p:nvSpPr>
          <p:cNvPr id="21" name="Text 18"/>
          <p:cNvSpPr/>
          <p:nvPr/>
        </p:nvSpPr>
        <p:spPr>
          <a:xfrm>
            <a:off x="1143000" y="4173848"/>
            <a:ext cx="6858000" cy="148568"/>
          </a:xfrm>
          <a:prstGeom prst="rect">
            <a:avLst/>
          </a:prstGeom>
          <a:noFill/>
          <a:ln/>
        </p:spPr>
        <p:txBody>
          <a:bodyPr wrap="none" lIns="127508"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Stratejik avantaj sağlayan güçlü bir mekanik</a:t>
            </a:r>
            <a:endParaRPr lang="en-US" sz="67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85750" y="659625"/>
            <a:ext cx="5500688" cy="350044"/>
          </a:xfrm>
          <a:prstGeom prst="rect">
            <a:avLst/>
          </a:prstGeom>
          <a:noFill/>
          <a:ln/>
        </p:spPr>
        <p:txBody>
          <a:bodyPr wrap="none" lIns="0" tIns="0" rIns="0" bIns="0" rtlCol="0" anchor="t">
            <a:spAutoFit/>
          </a:bodyPr>
          <a:lstStyle/>
          <a:p>
            <a:pPr algn="l" indent="0" marL="0">
              <a:lnSpc>
                <a:spcPts val="2400"/>
              </a:lnSpc>
              <a:buNone/>
            </a:pPr>
            <a:r>
              <a:rPr lang="en-US" sz="1808" b="1" spc="2" kern="0" dirty="0">
                <a:solidFill>
                  <a:srgbClr val="39FF14"/>
                </a:solidFill>
                <a:latin typeface="Noto Sans" pitchFamily="34" charset="0"/>
                <a:ea typeface="Noto Sans" pitchFamily="34" charset="-122"/>
                <a:cs typeface="Noto Sans" pitchFamily="34" charset="-120"/>
              </a:rPr>
              <a:t>MERMİ SİSTEMİ</a:t>
            </a:r>
            <a:endParaRPr lang="en-US" sz="1808" dirty="0"/>
          </a:p>
        </p:txBody>
      </p:sp>
      <p:sp>
        <p:nvSpPr>
          <p:cNvPr id="4" name="Text 1"/>
          <p:cNvSpPr/>
          <p:nvPr/>
        </p:nvSpPr>
        <p:spPr>
          <a:xfrm>
            <a:off x="285750" y="1188262"/>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MERMI PARAMETRELERİ</a:t>
            </a:r>
            <a:endParaRPr lang="en-US" sz="784" dirty="0"/>
          </a:p>
        </p:txBody>
      </p:sp>
      <p:sp>
        <p:nvSpPr>
          <p:cNvPr id="5" name="Shape 2"/>
          <p:cNvSpPr/>
          <p:nvPr/>
        </p:nvSpPr>
        <p:spPr>
          <a:xfrm>
            <a:off x="285750" y="1415076"/>
            <a:ext cx="5500688" cy="717166"/>
          </a:xfrm>
          <a:prstGeom prst="rect">
            <a:avLst/>
          </a:prstGeom>
          <a:solidFill>
            <a:srgbClr val="1A1A1A"/>
          </a:solidFill>
          <a:ln w="99">
            <a:solidFill>
              <a:srgbClr val="39FF14"/>
            </a:solidFill>
            <a:prstDash val="solid"/>
          </a:ln>
        </p:spPr>
      </p:sp>
      <p:sp>
        <p:nvSpPr>
          <p:cNvPr id="6" name="Text 3"/>
          <p:cNvSpPr/>
          <p:nvPr/>
        </p:nvSpPr>
        <p:spPr>
          <a:xfrm>
            <a:off x="371475" y="1518661"/>
            <a:ext cx="1127401" cy="126802"/>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public float speed = 10f;</a:t>
            </a:r>
            <a:endParaRPr lang="en-US" sz="674" dirty="0"/>
          </a:p>
        </p:txBody>
      </p:sp>
      <p:sp>
        <p:nvSpPr>
          <p:cNvPr id="7" name="Text 4"/>
          <p:cNvSpPr/>
          <p:nvPr/>
        </p:nvSpPr>
        <p:spPr>
          <a:xfrm>
            <a:off x="371475" y="1695803"/>
            <a:ext cx="1165017" cy="126802"/>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public float lifeTime = 5f;</a:t>
            </a:r>
            <a:endParaRPr lang="en-US" sz="674" dirty="0"/>
          </a:p>
        </p:txBody>
      </p:sp>
      <p:sp>
        <p:nvSpPr>
          <p:cNvPr id="8" name="Text 5"/>
          <p:cNvSpPr/>
          <p:nvPr/>
        </p:nvSpPr>
        <p:spPr>
          <a:xfrm>
            <a:off x="371475" y="1872946"/>
            <a:ext cx="1301000" cy="126802"/>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public float bulletScale = 2f;</a:t>
            </a:r>
            <a:endParaRPr lang="en-US" sz="674" dirty="0"/>
          </a:p>
        </p:txBody>
      </p:sp>
      <p:sp>
        <p:nvSpPr>
          <p:cNvPr id="9" name="Text 6"/>
          <p:cNvSpPr/>
          <p:nvPr/>
        </p:nvSpPr>
        <p:spPr>
          <a:xfrm>
            <a:off x="285750" y="2232254"/>
            <a:ext cx="5500688" cy="16999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Mermi hızı 10 birim/saniye, yaşam süresi 5 saniye, boyut 2 birim olarak ayarlanmıştır.</a:t>
            </a:r>
            <a:endParaRPr lang="en-US" sz="727" dirty="0"/>
          </a:p>
        </p:txBody>
      </p:sp>
      <p:sp>
        <p:nvSpPr>
          <p:cNvPr id="10" name="Text 7"/>
          <p:cNvSpPr/>
          <p:nvPr/>
        </p:nvSpPr>
        <p:spPr>
          <a:xfrm>
            <a:off x="285750" y="2530841"/>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HAREKET MANTIGI</a:t>
            </a:r>
            <a:endParaRPr lang="en-US" sz="784" dirty="0"/>
          </a:p>
        </p:txBody>
      </p:sp>
      <p:sp>
        <p:nvSpPr>
          <p:cNvPr id="11" name="Shape 8"/>
          <p:cNvSpPr/>
          <p:nvPr/>
        </p:nvSpPr>
        <p:spPr>
          <a:xfrm>
            <a:off x="285750" y="2757655"/>
            <a:ext cx="5500688" cy="540023"/>
          </a:xfrm>
          <a:prstGeom prst="rect">
            <a:avLst/>
          </a:prstGeom>
          <a:solidFill>
            <a:srgbClr val="1A1A1A"/>
          </a:solidFill>
          <a:ln w="99">
            <a:solidFill>
              <a:srgbClr val="39FF14"/>
            </a:solidFill>
            <a:prstDash val="solid"/>
          </a:ln>
        </p:spPr>
      </p:sp>
      <p:sp>
        <p:nvSpPr>
          <p:cNvPr id="12" name="Text 9"/>
          <p:cNvSpPr/>
          <p:nvPr/>
        </p:nvSpPr>
        <p:spPr>
          <a:xfrm>
            <a:off x="371475" y="2861239"/>
            <a:ext cx="1078288" cy="126802"/>
          </a:xfrm>
          <a:prstGeom prst="rect">
            <a:avLst/>
          </a:prstGeom>
          <a:noFill/>
          <a:ln/>
        </p:spPr>
        <p:txBody>
          <a:bodyPr wrap="none" lIns="0" tIns="0" rIns="0" bIns="0" rtlCol="0" anchor="t">
            <a:spAutoFit/>
          </a:bodyPr>
          <a:lstStyle/>
          <a:p>
            <a:pPr algn="l" indent="0" marL="0">
              <a:lnSpc>
                <a:spcPts val="1200"/>
              </a:lnSpc>
              <a:buNone/>
            </a:pPr>
            <a:r>
              <a:rPr lang="en-US" sz="674" dirty="0">
                <a:solidFill>
                  <a:srgbClr val="00FF41">
                    <a:alpha val="80000"/>
                  </a:srgbClr>
                </a:solidFill>
                <a:latin typeface="Noto Sans" pitchFamily="34" charset="0"/>
                <a:ea typeface="Noto Sans" pitchFamily="34" charset="-122"/>
                <a:cs typeface="Noto Sans" pitchFamily="34" charset="-120"/>
              </a:rPr>
              <a:t>// Update() metodunda</a:t>
            </a:r>
            <a:endParaRPr lang="en-US" sz="674" dirty="0"/>
          </a:p>
        </p:txBody>
      </p:sp>
      <p:sp>
        <p:nvSpPr>
          <p:cNvPr id="13" name="Text 10"/>
          <p:cNvSpPr/>
          <p:nvPr/>
        </p:nvSpPr>
        <p:spPr>
          <a:xfrm>
            <a:off x="371475" y="3038382"/>
            <a:ext cx="2995268" cy="126802"/>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transform.Translate(Vector3.forward * speed * Time.deltaTime);</a:t>
            </a:r>
            <a:endParaRPr lang="en-US" sz="674" dirty="0"/>
          </a:p>
        </p:txBody>
      </p:sp>
      <p:sp>
        <p:nvSpPr>
          <p:cNvPr id="14" name="Text 11"/>
          <p:cNvSpPr/>
          <p:nvPr/>
        </p:nvSpPr>
        <p:spPr>
          <a:xfrm>
            <a:off x="285750" y="3397690"/>
            <a:ext cx="5500688" cy="16999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Mermi her frame'de ileri doğru hareket eder. Belirtilen yaşam süresi sonunda otomatik olarak yok edilir.</a:t>
            </a:r>
            <a:endParaRPr lang="en-US" sz="727" dirty="0"/>
          </a:p>
        </p:txBody>
      </p:sp>
      <p:sp>
        <p:nvSpPr>
          <p:cNvPr id="15" name="Text 12"/>
          <p:cNvSpPr/>
          <p:nvPr/>
        </p:nvSpPr>
        <p:spPr>
          <a:xfrm>
            <a:off x="285750" y="3696277"/>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ÇARPIŞMA SİSTEMİ</a:t>
            </a:r>
            <a:endParaRPr lang="en-US" sz="784" dirty="0"/>
          </a:p>
        </p:txBody>
      </p:sp>
      <p:sp>
        <p:nvSpPr>
          <p:cNvPr id="16" name="Text 13"/>
          <p:cNvSpPr/>
          <p:nvPr/>
        </p:nvSpPr>
        <p:spPr>
          <a:xfrm>
            <a:off x="392906" y="3923091"/>
            <a:ext cx="5393531"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7FFF00"/>
                </a:solidFill>
                <a:latin typeface="Noto Sans" pitchFamily="34" charset="0"/>
                <a:ea typeface="Noto Sans" pitchFamily="34" charset="-122"/>
                <a:cs typeface="Noto Sans" pitchFamily="34" charset="-120"/>
              </a:rPr>
              <a:t>Enemy tag'ine sahip objeye çarpma algılanır</a:t>
            </a:r>
            <a:endParaRPr lang="en-US" sz="674" dirty="0"/>
          </a:p>
        </p:txBody>
      </p:sp>
      <p:sp>
        <p:nvSpPr>
          <p:cNvPr id="17" name="Text 14"/>
          <p:cNvSpPr/>
          <p:nvPr/>
        </p:nvSpPr>
        <p:spPr>
          <a:xfrm>
            <a:off x="392906" y="4105256"/>
            <a:ext cx="5393531"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7FFF00"/>
                </a:solidFill>
                <a:latin typeface="Noto Sans" pitchFamily="34" charset="0"/>
                <a:ea typeface="Noto Sans" pitchFamily="34" charset="-122"/>
                <a:cs typeface="Noto Sans" pitchFamily="34" charset="-120"/>
              </a:rPr>
              <a:t>Çarpışmada 10 puan eklenir</a:t>
            </a:r>
            <a:endParaRPr lang="en-US" sz="674" dirty="0"/>
          </a:p>
        </p:txBody>
      </p:sp>
      <p:sp>
        <p:nvSpPr>
          <p:cNvPr id="18" name="Text 15"/>
          <p:cNvSpPr/>
          <p:nvPr/>
        </p:nvSpPr>
        <p:spPr>
          <a:xfrm>
            <a:off x="392906" y="4287422"/>
            <a:ext cx="5393531" cy="139303"/>
          </a:xfrm>
          <a:prstGeom prst="rect">
            <a:avLst/>
          </a:prstGeom>
          <a:noFill/>
          <a:ln/>
        </p:spPr>
        <p:txBody>
          <a:bodyPr wrap="none" lIns="0" tIns="0" rIns="0" bIns="0" rtlCol="0" anchor="t">
            <a:spAutoFit/>
          </a:bodyPr>
          <a:lstStyle/>
          <a:p>
            <a:pPr algn="l" indent="0" marL="0">
              <a:lnSpc>
                <a:spcPts val="1100"/>
              </a:lnSpc>
              <a:buNone/>
            </a:pPr>
            <a:r>
              <a:rPr lang="en-US" sz="674" dirty="0">
                <a:solidFill>
                  <a:srgbClr val="7FFF00"/>
                </a:solidFill>
                <a:latin typeface="Noto Sans" pitchFamily="34" charset="0"/>
                <a:ea typeface="Noto Sans" pitchFamily="34" charset="-122"/>
                <a:cs typeface="Noto Sans" pitchFamily="34" charset="-120"/>
              </a:rPr>
              <a:t>Hem mermi hem düşman yok edilir</a:t>
            </a:r>
            <a:endParaRPr lang="en-US" sz="674" dirty="0"/>
          </a:p>
        </p:txBody>
      </p:sp>
      <p:pic>
        <p:nvPicPr>
          <p:cNvPr id="19" name="Image 1" descr="preencoded.png">    </p:cNvPr>
          <p:cNvPicPr>
            <a:picLocks noChangeAspect="1"/>
          </p:cNvPicPr>
          <p:nvPr/>
        </p:nvPicPr>
        <p:blipFill>
          <a:blip r:embed="rId2"/>
          <a:stretch>
            <a:fillRect/>
          </a:stretch>
        </p:blipFill>
        <p:spPr>
          <a:xfrm>
            <a:off x="6143625" y="622762"/>
            <a:ext cx="2714625" cy="38979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71567"/>
          </a:xfrm>
          <a:prstGeom prst="rect">
            <a:avLst/>
          </a:prstGeom>
        </p:spPr>
      </p:pic>
      <p:sp>
        <p:nvSpPr>
          <p:cNvPr id="3" name="Text 0"/>
          <p:cNvSpPr/>
          <p:nvPr/>
        </p:nvSpPr>
        <p:spPr>
          <a:xfrm>
            <a:off x="285750" y="285750"/>
            <a:ext cx="5500688" cy="700088"/>
          </a:xfrm>
          <a:prstGeom prst="rect">
            <a:avLst/>
          </a:prstGeom>
          <a:noFill/>
          <a:ln/>
        </p:spPr>
        <p:txBody>
          <a:bodyPr wrap="square" lIns="0" tIns="0" rIns="0" bIns="0" rtlCol="0" anchor="t">
            <a:spAutoFit/>
          </a:bodyPr>
          <a:lstStyle/>
          <a:p>
            <a:pPr algn="l" indent="0" marL="0">
              <a:lnSpc>
                <a:spcPts val="2400"/>
              </a:lnSpc>
              <a:buNone/>
            </a:pPr>
            <a:r>
              <a:rPr lang="en-US" sz="1808" b="1" spc="2" kern="0" dirty="0">
                <a:solidFill>
                  <a:srgbClr val="39FF14"/>
                </a:solidFill>
                <a:latin typeface="Noto Sans" pitchFamily="34" charset="0"/>
                <a:ea typeface="Noto Sans" pitchFamily="34" charset="-122"/>
                <a:cs typeface="Noto Sans" pitchFamily="34" charset="-120"/>
              </a:rPr>
              <a:t>DÜŞMAN HAREKETI</a:t>
            </a:r>
            <a:pPr algn="l" indent="0" marL="0">
              <a:lnSpc>
                <a:spcPts val="2400"/>
              </a:lnSpc>
              <a:buNone/>
            </a:pPr>
            <a:r>
              <a:rPr lang="en-US" sz="1808" b="1" spc="2" kern="0" dirty="0">
                <a:solidFill>
                  <a:srgbClr val="39FF14"/>
                </a:solidFill>
                <a:latin typeface="Noto Sans" pitchFamily="34" charset="0"/>
                <a:ea typeface="Noto Sans" pitchFamily="34" charset="-122"/>
                <a:cs typeface="Noto Sans" pitchFamily="34" charset="-120"/>
              </a:rPr>
              <a:t>
</a:t>
            </a:r>
            <a:pPr algn="l" indent="0" marL="0">
              <a:lnSpc>
                <a:spcPts val="2400"/>
              </a:lnSpc>
              <a:buNone/>
            </a:pPr>
            <a:r>
              <a:rPr lang="en-US" sz="1808" b="1" spc="2" kern="0" dirty="0">
                <a:solidFill>
                  <a:srgbClr val="39FF14"/>
                </a:solidFill>
                <a:latin typeface="Noto Sans" pitchFamily="34" charset="0"/>
                <a:ea typeface="Noto Sans" pitchFamily="34" charset="-122"/>
                <a:cs typeface="Noto Sans" pitchFamily="34" charset="-120"/>
              </a:rPr>
              <a:t>VE HIZ YÖNETİMİ</a:t>
            </a:r>
            <a:endParaRPr lang="en-US" sz="1808" dirty="0"/>
          </a:p>
        </p:txBody>
      </p:sp>
      <p:sp>
        <p:nvSpPr>
          <p:cNvPr id="4" name="Text 1"/>
          <p:cNvSpPr/>
          <p:nvPr/>
        </p:nvSpPr>
        <p:spPr>
          <a:xfrm>
            <a:off x="285750" y="1164431"/>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ENEMYMOVE SCRIPT</a:t>
            </a:r>
            <a:endParaRPr lang="en-US" sz="784" dirty="0"/>
          </a:p>
        </p:txBody>
      </p:sp>
      <p:sp>
        <p:nvSpPr>
          <p:cNvPr id="5" name="Text 2"/>
          <p:cNvSpPr/>
          <p:nvPr/>
        </p:nvSpPr>
        <p:spPr>
          <a:xfrm>
            <a:off x="285750" y="1391245"/>
            <a:ext cx="5500688" cy="16999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Düşmanları Base hedefine doğru hareket ettirir ve dalga ilerledikçe hızlarını dinamik olarak artırır.</a:t>
            </a:r>
            <a:endParaRPr lang="en-US" sz="727" dirty="0"/>
          </a:p>
        </p:txBody>
      </p:sp>
      <p:sp>
        <p:nvSpPr>
          <p:cNvPr id="6" name="Text 3"/>
          <p:cNvSpPr/>
          <p:nvPr/>
        </p:nvSpPr>
        <p:spPr>
          <a:xfrm>
            <a:off x="285750" y="1689832"/>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HEDEF BELİRLEME</a:t>
            </a:r>
            <a:endParaRPr lang="en-US" sz="784" dirty="0"/>
          </a:p>
        </p:txBody>
      </p:sp>
      <p:sp>
        <p:nvSpPr>
          <p:cNvPr id="7" name="Shape 4"/>
          <p:cNvSpPr/>
          <p:nvPr/>
        </p:nvSpPr>
        <p:spPr>
          <a:xfrm>
            <a:off x="285750" y="1916646"/>
            <a:ext cx="5500688" cy="460046"/>
          </a:xfrm>
          <a:prstGeom prst="rect">
            <a:avLst/>
          </a:prstGeom>
          <a:solidFill>
            <a:srgbClr val="1A1A1A"/>
          </a:solidFill>
          <a:ln w="99">
            <a:solidFill>
              <a:srgbClr val="39FF14"/>
            </a:solidFill>
            <a:prstDash val="solid"/>
          </a:ln>
        </p:spPr>
      </p:sp>
      <p:sp>
        <p:nvSpPr>
          <p:cNvPr id="8" name="Text 5"/>
          <p:cNvSpPr/>
          <p:nvPr/>
        </p:nvSpPr>
        <p:spPr>
          <a:xfrm>
            <a:off x="285750" y="1916646"/>
            <a:ext cx="5500688" cy="460046"/>
          </a:xfrm>
          <a:prstGeom prst="rect">
            <a:avLst/>
          </a:prstGeom>
          <a:noFill/>
          <a:ln/>
        </p:spPr>
        <p:txBody>
          <a:bodyPr wrap="square" lIns="102108" tIns="102108" rIns="102108" bIns="102108" rtlCol="0" anchor="t">
            <a:spAutoFit/>
          </a:bodyPr>
          <a:lstStyle/>
          <a:p>
            <a:pPr algn="l" indent="0" marL="0">
              <a:lnSpc>
                <a:spcPts val="1100"/>
              </a:lnSpc>
              <a:buNone/>
            </a:pPr>
            <a:r>
              <a:rPr lang="en-US" sz="621" dirty="0">
                <a:solidFill>
                  <a:srgbClr val="00FF41"/>
                </a:solidFill>
                <a:latin typeface="Noto Sans" pitchFamily="34" charset="0"/>
                <a:ea typeface="Noto Sans" pitchFamily="34" charset="-122"/>
                <a:cs typeface="Noto Sans" pitchFamily="34" charset="-120"/>
              </a:rPr>
              <a:t>target = GameObject.Find("Base");</a:t>
            </a:r>
            <a:pPr algn="l" indent="0" marL="0">
              <a:lnSpc>
                <a:spcPts val="1100"/>
              </a:lnSpc>
              <a:buNone/>
            </a:pPr>
            <a:r>
              <a:rPr lang="en-US" sz="621" dirty="0">
                <a:solidFill>
                  <a:srgbClr val="00FF41"/>
                </a:solidFill>
                <a:latin typeface="Noto Sans" pitchFamily="34" charset="0"/>
                <a:ea typeface="Noto Sans" pitchFamily="34" charset="-122"/>
                <a:cs typeface="Noto Sans" pitchFamily="34" charset="-120"/>
              </a:rPr>
              <a:t>
</a:t>
            </a:r>
            <a:pPr algn="l" indent="0" marL="0">
              <a:lnSpc>
                <a:spcPts val="1100"/>
              </a:lnSpc>
              <a:buNone/>
            </a:pPr>
            <a:r>
              <a:rPr lang="en-US" sz="621" dirty="0">
                <a:solidFill>
                  <a:srgbClr val="00FF41"/>
                </a:solidFill>
                <a:latin typeface="Noto Sans" pitchFamily="34" charset="0"/>
                <a:ea typeface="Noto Sans" pitchFamily="34" charset="-122"/>
                <a:cs typeface="Noto Sans" pitchFamily="34" charset="-120"/>
              </a:rPr>
              <a:t> // Veya tag ile bulma</a:t>
            </a:r>
            <a:endParaRPr lang="en-US" sz="621" dirty="0"/>
          </a:p>
        </p:txBody>
      </p:sp>
      <p:sp>
        <p:nvSpPr>
          <p:cNvPr id="9" name="Text 6"/>
          <p:cNvSpPr/>
          <p:nvPr/>
        </p:nvSpPr>
        <p:spPr>
          <a:xfrm>
            <a:off x="285750" y="2448130"/>
            <a:ext cx="5500688" cy="16999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Düşman, Base objesini hedef olarak belirlenir. Eğer atanmamışsa, tag veya isim ile otomatik bulunur.</a:t>
            </a:r>
            <a:endParaRPr lang="en-US" sz="727" dirty="0"/>
          </a:p>
        </p:txBody>
      </p:sp>
      <p:sp>
        <p:nvSpPr>
          <p:cNvPr id="10" name="Text 7"/>
          <p:cNvSpPr/>
          <p:nvPr/>
        </p:nvSpPr>
        <p:spPr>
          <a:xfrm>
            <a:off x="285750" y="2746716"/>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HIZ PARAMETRELERİ</a:t>
            </a:r>
            <a:endParaRPr lang="en-US" sz="784" dirty="0"/>
          </a:p>
        </p:txBody>
      </p:sp>
      <p:sp>
        <p:nvSpPr>
          <p:cNvPr id="11" name="Text 8"/>
          <p:cNvSpPr/>
          <p:nvPr/>
        </p:nvSpPr>
        <p:spPr>
          <a:xfrm>
            <a:off x="392906" y="2973530"/>
            <a:ext cx="5393531"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baseEnemySpeed = 1f (1. Wave hızı)</a:t>
            </a:r>
            <a:endParaRPr lang="en-US" sz="674" dirty="0"/>
          </a:p>
        </p:txBody>
      </p:sp>
      <p:sp>
        <p:nvSpPr>
          <p:cNvPr id="12" name="Text 9"/>
          <p:cNvSpPr/>
          <p:nvPr/>
        </p:nvSpPr>
        <p:spPr>
          <a:xfrm>
            <a:off x="392906" y="3172104"/>
            <a:ext cx="5393531"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speedIncreasePerWave = 1f (Wave başına artış)</a:t>
            </a:r>
            <a:endParaRPr lang="en-US" sz="674" dirty="0"/>
          </a:p>
        </p:txBody>
      </p:sp>
      <p:sp>
        <p:nvSpPr>
          <p:cNvPr id="13" name="Text 10"/>
          <p:cNvSpPr/>
          <p:nvPr/>
        </p:nvSpPr>
        <p:spPr>
          <a:xfrm>
            <a:off x="392906" y="3370678"/>
            <a:ext cx="5393531"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currentWave = Mevcut dalga numarası</a:t>
            </a:r>
            <a:endParaRPr lang="en-US" sz="674" dirty="0"/>
          </a:p>
        </p:txBody>
      </p:sp>
      <p:sp>
        <p:nvSpPr>
          <p:cNvPr id="14" name="Text 11"/>
          <p:cNvSpPr/>
          <p:nvPr/>
        </p:nvSpPr>
        <p:spPr>
          <a:xfrm>
            <a:off x="285750" y="3647833"/>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DINAMIK HIZ HESAPLAMASI</a:t>
            </a:r>
            <a:endParaRPr lang="en-US" sz="784" dirty="0"/>
          </a:p>
        </p:txBody>
      </p:sp>
      <p:sp>
        <p:nvSpPr>
          <p:cNvPr id="15" name="Shape 12"/>
          <p:cNvSpPr/>
          <p:nvPr/>
        </p:nvSpPr>
        <p:spPr>
          <a:xfrm>
            <a:off x="285750" y="3874647"/>
            <a:ext cx="5500688" cy="445759"/>
          </a:xfrm>
          <a:prstGeom prst="rect">
            <a:avLst/>
          </a:prstGeom>
          <a:solidFill>
            <a:srgbClr val="1A1A1A"/>
          </a:solidFill>
          <a:ln/>
        </p:spPr>
      </p:sp>
      <p:sp>
        <p:nvSpPr>
          <p:cNvPr id="16" name="Shape 13"/>
          <p:cNvSpPr/>
          <p:nvPr/>
        </p:nvSpPr>
        <p:spPr>
          <a:xfrm>
            <a:off x="285750" y="3874647"/>
            <a:ext cx="21431" cy="445759"/>
          </a:xfrm>
          <a:prstGeom prst="rect">
            <a:avLst/>
          </a:prstGeom>
          <a:solidFill>
            <a:srgbClr val="00FF41"/>
          </a:solidFill>
          <a:ln/>
        </p:spPr>
      </p:sp>
      <p:sp>
        <p:nvSpPr>
          <p:cNvPr id="17" name="Text 14"/>
          <p:cNvSpPr/>
          <p:nvPr/>
        </p:nvSpPr>
        <p:spPr>
          <a:xfrm>
            <a:off x="285750" y="3874647"/>
            <a:ext cx="5500688" cy="445759"/>
          </a:xfrm>
          <a:prstGeom prst="rect">
            <a:avLst/>
          </a:prstGeom>
          <a:noFill/>
          <a:ln/>
        </p:spPr>
        <p:txBody>
          <a:bodyPr wrap="square" lIns="102108" tIns="102108" rIns="102108" bIns="102108" rtlCol="0" anchor="t">
            <a:spAutoFit/>
          </a:bodyPr>
          <a:lstStyle/>
          <a:p>
            <a:pPr algn="l" indent="0" marL="0">
              <a:lnSpc>
                <a:spcPts val="1100"/>
              </a:lnSpc>
              <a:buNone/>
            </a:pPr>
            <a:r>
              <a:rPr lang="en-US" sz="621" dirty="0">
                <a:solidFill>
                  <a:srgbClr val="7FFF00"/>
                </a:solidFill>
                <a:latin typeface="Noto Sans" pitchFamily="34" charset="0"/>
                <a:ea typeface="Noto Sans" pitchFamily="34" charset="-122"/>
                <a:cs typeface="Noto Sans" pitchFamily="34" charset="-120"/>
              </a:rPr>
              <a:t>Düşman Hızı = baseEnemySpeed + (currentWave × speedIncreasePerWave)</a:t>
            </a:r>
            <a:pPr algn="l" indent="0" marL="0">
              <a:lnSpc>
                <a:spcPts val="1100"/>
              </a:lnSpc>
              <a:buNone/>
            </a:pPr>
            <a:r>
              <a:rPr lang="en-US" sz="621" dirty="0">
                <a:solidFill>
                  <a:srgbClr val="7FFF00"/>
                </a:solidFill>
                <a:latin typeface="Noto Sans" pitchFamily="34" charset="0"/>
                <a:ea typeface="Noto Sans" pitchFamily="34" charset="-122"/>
                <a:cs typeface="Noto Sans" pitchFamily="34" charset="-120"/>
              </a:rPr>
              <a:t>
</a:t>
            </a:r>
            <a:pPr algn="l" indent="0" marL="0">
              <a:lnSpc>
                <a:spcPts val="1100"/>
              </a:lnSpc>
              <a:buNone/>
            </a:pPr>
            <a:r>
              <a:rPr lang="en-US" sz="621" dirty="0">
                <a:solidFill>
                  <a:srgbClr val="7FFF00"/>
                </a:solidFill>
                <a:latin typeface="Noto Sans" pitchFamily="34" charset="0"/>
                <a:ea typeface="Noto Sans" pitchFamily="34" charset="-122"/>
                <a:cs typeface="Noto Sans" pitchFamily="34" charset="-120"/>
              </a:rPr>
              <a:t> Örnek: Wave 5 → 1 + (5 × 1) = 6 birim/saniye</a:t>
            </a:r>
            <a:endParaRPr lang="en-US" sz="621" dirty="0"/>
          </a:p>
        </p:txBody>
      </p:sp>
      <p:sp>
        <p:nvSpPr>
          <p:cNvPr id="18" name="Text 15"/>
          <p:cNvSpPr/>
          <p:nvPr/>
        </p:nvSpPr>
        <p:spPr>
          <a:xfrm>
            <a:off x="285750" y="4448994"/>
            <a:ext cx="5500688"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HAREKET MANTIGI</a:t>
            </a:r>
            <a:endParaRPr lang="en-US" sz="784" dirty="0"/>
          </a:p>
        </p:txBody>
      </p:sp>
      <p:sp>
        <p:nvSpPr>
          <p:cNvPr id="19" name="Text 16"/>
          <p:cNvSpPr/>
          <p:nvPr/>
        </p:nvSpPr>
        <p:spPr>
          <a:xfrm>
            <a:off x="392906" y="4675808"/>
            <a:ext cx="5393531"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Düşman, Base'e doğru sürekli hareket eder</a:t>
            </a:r>
            <a:endParaRPr lang="en-US" sz="674" dirty="0"/>
          </a:p>
        </p:txBody>
      </p:sp>
      <p:sp>
        <p:nvSpPr>
          <p:cNvPr id="20" name="Text 17"/>
          <p:cNvSpPr/>
          <p:nvPr/>
        </p:nvSpPr>
        <p:spPr>
          <a:xfrm>
            <a:off x="392906" y="4874382"/>
            <a:ext cx="5393531"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Hız, mevcut wave'e göre otomatik güncellenir</a:t>
            </a:r>
            <a:endParaRPr lang="en-US" sz="674" dirty="0"/>
          </a:p>
        </p:txBody>
      </p:sp>
      <p:sp>
        <p:nvSpPr>
          <p:cNvPr id="21" name="Text 18"/>
          <p:cNvSpPr/>
          <p:nvPr/>
        </p:nvSpPr>
        <p:spPr>
          <a:xfrm>
            <a:off x="392906" y="5072955"/>
            <a:ext cx="5393531"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Oyun zorlaştıkça düşmanlar hızlanır</a:t>
            </a:r>
            <a:endParaRPr lang="en-US" sz="674" dirty="0"/>
          </a:p>
        </p:txBody>
      </p:sp>
      <p:pic>
        <p:nvPicPr>
          <p:cNvPr id="22" name="Image 1" descr="preencoded.png">    </p:cNvPr>
          <p:cNvPicPr>
            <a:picLocks noChangeAspect="1"/>
          </p:cNvPicPr>
          <p:nvPr/>
        </p:nvPicPr>
        <p:blipFill>
          <a:blip r:embed="rId2"/>
          <a:stretch>
            <a:fillRect/>
          </a:stretch>
        </p:blipFill>
        <p:spPr>
          <a:xfrm>
            <a:off x="6160480" y="635515"/>
            <a:ext cx="2680888" cy="42862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256126"/>
          </a:xfrm>
          <a:prstGeom prst="rect">
            <a:avLst/>
          </a:prstGeom>
        </p:spPr>
      </p:pic>
      <p:sp>
        <p:nvSpPr>
          <p:cNvPr id="3" name="Text 0"/>
          <p:cNvSpPr/>
          <p:nvPr/>
        </p:nvSpPr>
        <p:spPr>
          <a:xfrm>
            <a:off x="285750" y="285750"/>
            <a:ext cx="5572125" cy="700088"/>
          </a:xfrm>
          <a:prstGeom prst="rect">
            <a:avLst/>
          </a:prstGeom>
          <a:noFill/>
          <a:ln/>
        </p:spPr>
        <p:txBody>
          <a:bodyPr wrap="square" lIns="0" tIns="0" rIns="0" bIns="0" rtlCol="0" anchor="t">
            <a:spAutoFit/>
          </a:bodyPr>
          <a:lstStyle/>
          <a:p>
            <a:pPr algn="l" indent="0" marL="0">
              <a:lnSpc>
                <a:spcPts val="2400"/>
              </a:lnSpc>
              <a:buNone/>
            </a:pPr>
            <a:r>
              <a:rPr lang="en-US" sz="1808" b="1" spc="2" kern="0" dirty="0">
                <a:solidFill>
                  <a:srgbClr val="39FF14"/>
                </a:solidFill>
                <a:latin typeface="Noto Sans" pitchFamily="34" charset="0"/>
                <a:ea typeface="Noto Sans" pitchFamily="34" charset="-122"/>
                <a:cs typeface="Noto Sans" pitchFamily="34" charset="-120"/>
              </a:rPr>
              <a:t>DÜŞMAN ÜRETİMİ</a:t>
            </a:r>
            <a:pPr algn="l" indent="0" marL="0">
              <a:lnSpc>
                <a:spcPts val="2400"/>
              </a:lnSpc>
              <a:buNone/>
            </a:pPr>
            <a:r>
              <a:rPr lang="en-US" sz="1808" b="1" spc="2" kern="0" dirty="0">
                <a:solidFill>
                  <a:srgbClr val="39FF14"/>
                </a:solidFill>
                <a:latin typeface="Noto Sans" pitchFamily="34" charset="0"/>
                <a:ea typeface="Noto Sans" pitchFamily="34" charset="-122"/>
                <a:cs typeface="Noto Sans" pitchFamily="34" charset="-120"/>
              </a:rPr>
              <a:t>
</a:t>
            </a:r>
            <a:pPr algn="l" indent="0" marL="0">
              <a:lnSpc>
                <a:spcPts val="2400"/>
              </a:lnSpc>
              <a:buNone/>
            </a:pPr>
            <a:r>
              <a:rPr lang="en-US" sz="1808" b="1" spc="2" kern="0" dirty="0">
                <a:solidFill>
                  <a:srgbClr val="39FF14"/>
                </a:solidFill>
                <a:latin typeface="Noto Sans" pitchFamily="34" charset="0"/>
                <a:ea typeface="Noto Sans" pitchFamily="34" charset="-122"/>
                <a:cs typeface="Noto Sans" pitchFamily="34" charset="-120"/>
              </a:rPr>
              <a:t>VE DALGA SİSTEMİ</a:t>
            </a:r>
            <a:endParaRPr lang="en-US" sz="1808" dirty="0"/>
          </a:p>
        </p:txBody>
      </p:sp>
      <p:sp>
        <p:nvSpPr>
          <p:cNvPr id="4" name="Text 1"/>
          <p:cNvSpPr/>
          <p:nvPr/>
        </p:nvSpPr>
        <p:spPr>
          <a:xfrm>
            <a:off x="285750" y="1164431"/>
            <a:ext cx="5572125"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ENEMYSPAWNER SCRIPT</a:t>
            </a:r>
            <a:endParaRPr lang="en-US" sz="784" dirty="0"/>
          </a:p>
        </p:txBody>
      </p:sp>
      <p:sp>
        <p:nvSpPr>
          <p:cNvPr id="5" name="Text 2"/>
          <p:cNvSpPr/>
          <p:nvPr/>
        </p:nvSpPr>
        <p:spPr>
          <a:xfrm>
            <a:off x="285750" y="1391245"/>
            <a:ext cx="5572125" cy="16999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Düşmanları belirli noktalardan (Spawner) üretir ve dalga ilerledikçe zorluk seviyesini dinamik olarak artırır.</a:t>
            </a:r>
            <a:endParaRPr lang="en-US" sz="727" dirty="0"/>
          </a:p>
        </p:txBody>
      </p:sp>
      <p:sp>
        <p:nvSpPr>
          <p:cNvPr id="6" name="Text 3"/>
          <p:cNvSpPr/>
          <p:nvPr/>
        </p:nvSpPr>
        <p:spPr>
          <a:xfrm>
            <a:off x="285750" y="1689832"/>
            <a:ext cx="5572125"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SPAWN PARAMETRELERİ</a:t>
            </a:r>
            <a:endParaRPr lang="en-US" sz="784" dirty="0"/>
          </a:p>
        </p:txBody>
      </p:sp>
      <p:sp>
        <p:nvSpPr>
          <p:cNvPr id="7" name="Text 4"/>
          <p:cNvSpPr/>
          <p:nvPr/>
        </p:nvSpPr>
        <p:spPr>
          <a:xfrm>
            <a:off x="392906" y="1916646"/>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enemyPrefab: Spawnlanacak düşman objesi</a:t>
            </a:r>
            <a:endParaRPr lang="en-US" sz="674" dirty="0"/>
          </a:p>
        </p:txBody>
      </p:sp>
      <p:sp>
        <p:nvSpPr>
          <p:cNvPr id="8" name="Text 5"/>
          <p:cNvSpPr/>
          <p:nvPr/>
        </p:nvSpPr>
        <p:spPr>
          <a:xfrm>
            <a:off x="392906" y="2115220"/>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target: Düşmanların hedefi (Base)</a:t>
            </a:r>
            <a:endParaRPr lang="en-US" sz="674" dirty="0"/>
          </a:p>
        </p:txBody>
      </p:sp>
      <p:sp>
        <p:nvSpPr>
          <p:cNvPr id="9" name="Text 6"/>
          <p:cNvSpPr/>
          <p:nvPr/>
        </p:nvSpPr>
        <p:spPr>
          <a:xfrm>
            <a:off x="392906" y="2313794"/>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spawnDelay: 0.5f (Spawnlar arası bekleme)</a:t>
            </a:r>
            <a:endParaRPr lang="en-US" sz="674" dirty="0"/>
          </a:p>
        </p:txBody>
      </p:sp>
      <p:sp>
        <p:nvSpPr>
          <p:cNvPr id="10" name="Text 7"/>
          <p:cNvSpPr/>
          <p:nvPr/>
        </p:nvSpPr>
        <p:spPr>
          <a:xfrm>
            <a:off x="392906" y="2512368"/>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enemySpeed: 3f (Düşman hızı)</a:t>
            </a:r>
            <a:endParaRPr lang="en-US" sz="674" dirty="0"/>
          </a:p>
        </p:txBody>
      </p:sp>
      <p:sp>
        <p:nvSpPr>
          <p:cNvPr id="11" name="Text 8"/>
          <p:cNvSpPr/>
          <p:nvPr/>
        </p:nvSpPr>
        <p:spPr>
          <a:xfrm>
            <a:off x="285750" y="2789523"/>
            <a:ext cx="5572125"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WAVE YÖNETİMİ</a:t>
            </a:r>
            <a:endParaRPr lang="en-US" sz="784" dirty="0"/>
          </a:p>
        </p:txBody>
      </p:sp>
      <p:sp>
        <p:nvSpPr>
          <p:cNvPr id="12" name="Text 9"/>
          <p:cNvSpPr/>
          <p:nvPr/>
        </p:nvSpPr>
        <p:spPr>
          <a:xfrm>
            <a:off x="285750" y="3016337"/>
            <a:ext cx="5572125" cy="33999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7FFF00"/>
                </a:solidFill>
                <a:latin typeface="Noto Sans" pitchFamily="34" charset="0"/>
                <a:ea typeface="Noto Sans" pitchFamily="34" charset="-122"/>
                <a:cs typeface="Noto Sans" pitchFamily="34" charset="-120"/>
              </a:rPr>
              <a:t>currentWave statik değişkeni tüm spawnerler ve düşmanlar tarafından paylaşılır. Her wave'de zorluk parametreleri güncellenir.</a:t>
            </a:r>
            <a:endParaRPr lang="en-US" sz="727" dirty="0"/>
          </a:p>
        </p:txBody>
      </p:sp>
      <p:sp>
        <p:nvSpPr>
          <p:cNvPr id="13" name="Text 10"/>
          <p:cNvSpPr/>
          <p:nvPr/>
        </p:nvSpPr>
        <p:spPr>
          <a:xfrm>
            <a:off x="285750" y="3484922"/>
            <a:ext cx="5572125"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ZORLUK ARTIŞI</a:t>
            </a:r>
            <a:endParaRPr lang="en-US" sz="784" dirty="0"/>
          </a:p>
        </p:txBody>
      </p:sp>
      <p:sp>
        <p:nvSpPr>
          <p:cNvPr id="14" name="Text 11"/>
          <p:cNvSpPr/>
          <p:nvPr/>
        </p:nvSpPr>
        <p:spPr>
          <a:xfrm>
            <a:off x="392906" y="3711736"/>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Spawn hızı azalır (spawnDelay düşer)</a:t>
            </a:r>
            <a:endParaRPr lang="en-US" sz="674" dirty="0"/>
          </a:p>
        </p:txBody>
      </p:sp>
      <p:sp>
        <p:nvSpPr>
          <p:cNvPr id="15" name="Text 12"/>
          <p:cNvSpPr/>
          <p:nvPr/>
        </p:nvSpPr>
        <p:spPr>
          <a:xfrm>
            <a:off x="392906" y="3910310"/>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Düşman sayısı artar</a:t>
            </a:r>
            <a:endParaRPr lang="en-US" sz="674" dirty="0"/>
          </a:p>
        </p:txBody>
      </p:sp>
      <p:sp>
        <p:nvSpPr>
          <p:cNvPr id="16" name="Text 13"/>
          <p:cNvSpPr/>
          <p:nvPr/>
        </p:nvSpPr>
        <p:spPr>
          <a:xfrm>
            <a:off x="392906" y="4108884"/>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Düşman hızı artar (EnemyMove ile entegre)</a:t>
            </a:r>
            <a:endParaRPr lang="en-US" sz="674" dirty="0"/>
          </a:p>
        </p:txBody>
      </p:sp>
      <p:sp>
        <p:nvSpPr>
          <p:cNvPr id="17" name="Text 14"/>
          <p:cNvSpPr/>
          <p:nvPr/>
        </p:nvSpPr>
        <p:spPr>
          <a:xfrm>
            <a:off x="392906" y="4307458"/>
            <a:ext cx="5464969" cy="148568"/>
          </a:xfrm>
          <a:prstGeom prst="rect">
            <a:avLst/>
          </a:prstGeom>
          <a:noFill/>
          <a:ln/>
        </p:spPr>
        <p:txBody>
          <a:bodyPr wrap="none" lIns="0" tIns="0" rIns="0" bIns="0" rtlCol="0" anchor="t">
            <a:spAutoFit/>
          </a:bodyPr>
          <a:lstStyle/>
          <a:p>
            <a:pPr algn="l" indent="0" marL="0">
              <a:lnSpc>
                <a:spcPts val="1200"/>
              </a:lnSpc>
              <a:buNone/>
            </a:pPr>
            <a:r>
              <a:rPr lang="en-US" sz="674" dirty="0">
                <a:solidFill>
                  <a:srgbClr val="7FFF00"/>
                </a:solidFill>
                <a:latin typeface="Noto Sans" pitchFamily="34" charset="0"/>
                <a:ea typeface="Noto Sans" pitchFamily="34" charset="-122"/>
                <a:cs typeface="Noto Sans" pitchFamily="34" charset="-120"/>
              </a:rPr>
              <a:t>Oyun giderek zorlaşır ve hızlanır</a:t>
            </a:r>
            <a:endParaRPr lang="en-US" sz="674" dirty="0"/>
          </a:p>
        </p:txBody>
      </p:sp>
      <p:sp>
        <p:nvSpPr>
          <p:cNvPr id="18" name="Shape 15"/>
          <p:cNvSpPr/>
          <p:nvPr/>
        </p:nvSpPr>
        <p:spPr>
          <a:xfrm>
            <a:off x="285750" y="4527463"/>
            <a:ext cx="5572125" cy="442913"/>
          </a:xfrm>
          <a:prstGeom prst="rect">
            <a:avLst/>
          </a:prstGeom>
          <a:solidFill>
            <a:srgbClr val="1A1A1A"/>
          </a:solidFill>
          <a:ln w="99">
            <a:solidFill>
              <a:srgbClr val="39FF14"/>
            </a:solidFill>
            <a:prstDash val="solid"/>
          </a:ln>
        </p:spPr>
      </p:sp>
      <p:sp>
        <p:nvSpPr>
          <p:cNvPr id="19" name="Text 16"/>
          <p:cNvSpPr/>
          <p:nvPr/>
        </p:nvSpPr>
        <p:spPr>
          <a:xfrm>
            <a:off x="285750" y="4527463"/>
            <a:ext cx="5572125" cy="442913"/>
          </a:xfrm>
          <a:prstGeom prst="rect">
            <a:avLst/>
          </a:prstGeom>
          <a:noFill/>
          <a:ln/>
        </p:spPr>
        <p:txBody>
          <a:bodyPr wrap="square" lIns="102108" tIns="102108" rIns="102108" bIns="102108" rtlCol="0" anchor="t">
            <a:spAutoFit/>
          </a:bodyPr>
          <a:lstStyle/>
          <a:p>
            <a:pPr algn="l" indent="0" marL="0">
              <a:lnSpc>
                <a:spcPts val="1000"/>
              </a:lnSpc>
              <a:buNone/>
            </a:pPr>
            <a:r>
              <a:rPr lang="en-US" sz="621" dirty="0">
                <a:solidFill>
                  <a:srgbClr val="00FF41"/>
                </a:solidFill>
                <a:latin typeface="Noto Sans" pitchFamily="34" charset="0"/>
                <a:ea typeface="Noto Sans" pitchFamily="34" charset="-122"/>
                <a:cs typeface="Noto Sans" pitchFamily="34" charset="-120"/>
              </a:rPr>
              <a:t>InvokeRepeating(nameof(AddWave), 60f, 60f);</a:t>
            </a:r>
            <a:pPr algn="l" indent="0" marL="0">
              <a:lnSpc>
                <a:spcPts val="1000"/>
              </a:lnSpc>
              <a:buNone/>
            </a:pPr>
            <a:r>
              <a:rPr lang="en-US" sz="621" dirty="0">
                <a:solidFill>
                  <a:srgbClr val="00FF41"/>
                </a:solidFill>
                <a:latin typeface="Noto Sans" pitchFamily="34" charset="0"/>
                <a:ea typeface="Noto Sans" pitchFamily="34" charset="-122"/>
                <a:cs typeface="Noto Sans" pitchFamily="34" charset="-120"/>
              </a:rPr>
              <a:t>
</a:t>
            </a:r>
            <a:pPr algn="l" indent="0" marL="0">
              <a:lnSpc>
                <a:spcPts val="1000"/>
              </a:lnSpc>
              <a:buNone/>
            </a:pPr>
            <a:r>
              <a:rPr lang="en-US" sz="621" dirty="0">
                <a:solidFill>
                  <a:srgbClr val="00FF41"/>
                </a:solidFill>
                <a:latin typeface="Noto Sans" pitchFamily="34" charset="0"/>
                <a:ea typeface="Noto Sans" pitchFamily="34" charset="-122"/>
                <a:cs typeface="Noto Sans" pitchFamily="34" charset="-120"/>
              </a:rPr>
              <a:t> // 60 saniyede bir wave artırılır</a:t>
            </a:r>
            <a:endParaRPr lang="en-US" sz="621" dirty="0"/>
          </a:p>
        </p:txBody>
      </p:sp>
      <p:pic>
        <p:nvPicPr>
          <p:cNvPr id="20" name="Image 1" descr="preencoded.png">    </p:cNvPr>
          <p:cNvPicPr>
            <a:picLocks noChangeAspect="1"/>
          </p:cNvPicPr>
          <p:nvPr/>
        </p:nvPicPr>
        <p:blipFill>
          <a:blip r:embed="rId2"/>
          <a:stretch>
            <a:fillRect/>
          </a:stretch>
        </p:blipFill>
        <p:spPr>
          <a:xfrm>
            <a:off x="6143625" y="285750"/>
            <a:ext cx="2714625" cy="42275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836667"/>
          </a:xfrm>
          <a:prstGeom prst="rect">
            <a:avLst/>
          </a:prstGeom>
        </p:spPr>
      </p:pic>
      <p:sp>
        <p:nvSpPr>
          <p:cNvPr id="3" name="Text 0"/>
          <p:cNvSpPr/>
          <p:nvPr/>
        </p:nvSpPr>
        <p:spPr>
          <a:xfrm>
            <a:off x="285750" y="214313"/>
            <a:ext cx="8572500" cy="369689"/>
          </a:xfrm>
          <a:prstGeom prst="rect">
            <a:avLst/>
          </a:prstGeom>
          <a:noFill/>
          <a:ln/>
        </p:spPr>
        <p:txBody>
          <a:bodyPr wrap="none" lIns="0" tIns="0" rIns="0" bIns="0" rtlCol="0" anchor="t">
            <a:spAutoFit/>
          </a:bodyPr>
          <a:lstStyle/>
          <a:p>
            <a:pPr algn="ctr" indent="0" marL="0">
              <a:lnSpc>
                <a:spcPts val="2600"/>
              </a:lnSpc>
              <a:buNone/>
            </a:pPr>
            <a:r>
              <a:rPr lang="en-US" sz="1912" b="1" spc="2" kern="0" dirty="0">
                <a:solidFill>
                  <a:srgbClr val="39FF14"/>
                </a:solidFill>
                <a:latin typeface="Noto Sans" pitchFamily="34" charset="0"/>
                <a:ea typeface="Noto Sans" pitchFamily="34" charset="-122"/>
                <a:cs typeface="Noto Sans" pitchFamily="34" charset="-120"/>
              </a:rPr>
              <a:t>OYUNCU KONTROLÜ VE ATEŞ ETME</a:t>
            </a:r>
            <a:endParaRPr lang="en-US" sz="1912" dirty="0"/>
          </a:p>
        </p:txBody>
      </p:sp>
      <p:sp>
        <p:nvSpPr>
          <p:cNvPr id="4" name="Shape 1"/>
          <p:cNvSpPr/>
          <p:nvPr/>
        </p:nvSpPr>
        <p:spPr>
          <a:xfrm>
            <a:off x="285750" y="726877"/>
            <a:ext cx="4221956" cy="2100207"/>
          </a:xfrm>
          <a:prstGeom prst="rect">
            <a:avLst/>
          </a:prstGeom>
          <a:solidFill>
            <a:srgbClr val="1A1A1A"/>
          </a:solidFill>
          <a:ln w="198">
            <a:solidFill>
              <a:srgbClr val="39FF14"/>
            </a:solidFill>
            <a:prstDash val="solid"/>
          </a:ln>
        </p:spPr>
      </p:sp>
      <p:sp>
        <p:nvSpPr>
          <p:cNvPr id="5" name="Text 2"/>
          <p:cNvSpPr/>
          <p:nvPr/>
        </p:nvSpPr>
        <p:spPr>
          <a:xfrm>
            <a:off x="392906" y="834033"/>
            <a:ext cx="4007644" cy="210741"/>
          </a:xfrm>
          <a:prstGeom prst="rect">
            <a:avLst/>
          </a:prstGeom>
          <a:noFill/>
          <a:ln/>
        </p:spPr>
        <p:txBody>
          <a:bodyPr wrap="square" lIns="0" tIns="0" rIns="0" bIns="68072" rtlCol="0" anchor="t">
            <a:spAutoFit/>
          </a:bodyPr>
          <a:lstStyle/>
          <a:p>
            <a:pPr algn="l" indent="0" marL="0">
              <a:lnSpc>
                <a:spcPts val="1000"/>
              </a:lnSpc>
              <a:buNone/>
            </a:pPr>
            <a:r>
              <a:rPr lang="en-US" sz="734" b="1" spc="1" kern="0" dirty="0">
                <a:solidFill>
                  <a:srgbClr val="00FF41"/>
                </a:solidFill>
                <a:latin typeface="Noto Sans" pitchFamily="34" charset="0"/>
                <a:ea typeface="Noto Sans" pitchFamily="34" charset="-122"/>
                <a:cs typeface="Noto Sans" pitchFamily="34" charset="-120"/>
              </a:rPr>
              <a:t>TowerMove Script</a:t>
            </a:r>
            <a:endParaRPr lang="en-US" sz="734" dirty="0"/>
          </a:p>
        </p:txBody>
      </p:sp>
      <p:sp>
        <p:nvSpPr>
          <p:cNvPr id="6" name="Text 3"/>
          <p:cNvSpPr/>
          <p:nvPr/>
        </p:nvSpPr>
        <p:spPr>
          <a:xfrm>
            <a:off x="392906" y="1116211"/>
            <a:ext cx="4007644"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00FF41"/>
                </a:solidFill>
                <a:latin typeface="Noto Sans" pitchFamily="34" charset="0"/>
                <a:ea typeface="Noto Sans" pitchFamily="34" charset="-122"/>
                <a:cs typeface="Noto Sans" pitchFamily="34" charset="-120"/>
              </a:rPr>
              <a:t>HAREKETE PARAMETRELER</a:t>
            </a:r>
            <a:endParaRPr lang="en-US" sz="584" dirty="0"/>
          </a:p>
        </p:txBody>
      </p:sp>
      <p:sp>
        <p:nvSpPr>
          <p:cNvPr id="7" name="Text 4"/>
          <p:cNvSpPr/>
          <p:nvPr/>
        </p:nvSpPr>
        <p:spPr>
          <a:xfrm>
            <a:off x="392906" y="1268016"/>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moveSpeed = 10f (Hareket hızı)</a:t>
            </a:r>
            <a:endParaRPr lang="en-US" sz="568" dirty="0"/>
          </a:p>
        </p:txBody>
      </p:sp>
      <p:sp>
        <p:nvSpPr>
          <p:cNvPr id="8" name="Text 5"/>
          <p:cNvSpPr/>
          <p:nvPr/>
        </p:nvSpPr>
        <p:spPr>
          <a:xfrm>
            <a:off x="392906" y="1478031"/>
            <a:ext cx="4007644"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00FF41"/>
                </a:solidFill>
                <a:latin typeface="Noto Sans" pitchFamily="34" charset="0"/>
                <a:ea typeface="Noto Sans" pitchFamily="34" charset="-122"/>
                <a:cs typeface="Noto Sans" pitchFamily="34" charset="-120"/>
              </a:rPr>
              <a:t>KONTROL TUŞLARI</a:t>
            </a:r>
            <a:endParaRPr lang="en-US" sz="584" dirty="0"/>
          </a:p>
        </p:txBody>
      </p:sp>
      <p:sp>
        <p:nvSpPr>
          <p:cNvPr id="9" name="Text 6"/>
          <p:cNvSpPr/>
          <p:nvPr/>
        </p:nvSpPr>
        <p:spPr>
          <a:xfrm>
            <a:off x="392906" y="1629835"/>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W / UpArrow = İleri</a:t>
            </a:r>
            <a:endParaRPr lang="en-US" sz="568" dirty="0"/>
          </a:p>
        </p:txBody>
      </p:sp>
      <p:sp>
        <p:nvSpPr>
          <p:cNvPr id="10" name="Text 7"/>
          <p:cNvSpPr/>
          <p:nvPr/>
        </p:nvSpPr>
        <p:spPr>
          <a:xfrm>
            <a:off x="392906" y="1768413"/>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S / DownArrow = Geri</a:t>
            </a:r>
            <a:endParaRPr lang="en-US" sz="568" dirty="0"/>
          </a:p>
        </p:txBody>
      </p:sp>
      <p:sp>
        <p:nvSpPr>
          <p:cNvPr id="11" name="Text 8"/>
          <p:cNvSpPr/>
          <p:nvPr/>
        </p:nvSpPr>
        <p:spPr>
          <a:xfrm>
            <a:off x="392906" y="1906991"/>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A / LeftArrow = Sol</a:t>
            </a:r>
            <a:endParaRPr lang="en-US" sz="568" dirty="0"/>
          </a:p>
        </p:txBody>
      </p:sp>
      <p:sp>
        <p:nvSpPr>
          <p:cNvPr id="12" name="Text 9"/>
          <p:cNvSpPr/>
          <p:nvPr/>
        </p:nvSpPr>
        <p:spPr>
          <a:xfrm>
            <a:off x="392906" y="2045568"/>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D / RightArrow = Sağ</a:t>
            </a:r>
            <a:endParaRPr lang="en-US" sz="568" dirty="0"/>
          </a:p>
        </p:txBody>
      </p:sp>
      <p:sp>
        <p:nvSpPr>
          <p:cNvPr id="13" name="Shape 10"/>
          <p:cNvSpPr/>
          <p:nvPr/>
        </p:nvSpPr>
        <p:spPr>
          <a:xfrm>
            <a:off x="392906" y="2255583"/>
            <a:ext cx="4007644" cy="378619"/>
          </a:xfrm>
          <a:prstGeom prst="rect">
            <a:avLst/>
          </a:prstGeom>
          <a:solidFill>
            <a:srgbClr val="0A0E0D"/>
          </a:solidFill>
          <a:ln/>
        </p:spPr>
      </p:sp>
      <p:sp>
        <p:nvSpPr>
          <p:cNvPr id="14" name="Shape 11"/>
          <p:cNvSpPr/>
          <p:nvPr/>
        </p:nvSpPr>
        <p:spPr>
          <a:xfrm>
            <a:off x="392906" y="2255583"/>
            <a:ext cx="14288" cy="378619"/>
          </a:xfrm>
          <a:prstGeom prst="rect">
            <a:avLst/>
          </a:prstGeom>
          <a:solidFill>
            <a:srgbClr val="00FF41"/>
          </a:solidFill>
          <a:ln/>
        </p:spPr>
      </p:sp>
      <p:sp>
        <p:nvSpPr>
          <p:cNvPr id="15" name="Text 12"/>
          <p:cNvSpPr/>
          <p:nvPr/>
        </p:nvSpPr>
        <p:spPr>
          <a:xfrm>
            <a:off x="464344" y="2327021"/>
            <a:ext cx="3864769" cy="107156"/>
          </a:xfrm>
          <a:prstGeom prst="rect">
            <a:avLst/>
          </a:prstGeom>
          <a:noFill/>
          <a:ln/>
        </p:spPr>
        <p:txBody>
          <a:bodyPr wrap="none" lIns="0" tIns="0" rIns="0" bIns="0" rtlCol="0" anchor="t">
            <a:spAutoFit/>
          </a:bodyPr>
          <a:lstStyle/>
          <a:p>
            <a:pPr algn="l" indent="0" marL="0">
              <a:lnSpc>
                <a:spcPts val="700"/>
              </a:lnSpc>
              <a:buNone/>
            </a:pPr>
            <a:r>
              <a:rPr lang="en-US" sz="534" b="1" dirty="0">
                <a:solidFill>
                  <a:srgbClr val="00FF41"/>
                </a:solidFill>
                <a:latin typeface="Noto Sans" pitchFamily="34" charset="0"/>
                <a:ea typeface="Noto Sans" pitchFamily="34" charset="-122"/>
                <a:cs typeface="Noto Sans" pitchFamily="34" charset="-120"/>
              </a:rPr>
              <a:t>Update() Metodu</a:t>
            </a:r>
            <a:endParaRPr lang="en-US" sz="534" dirty="0"/>
          </a:p>
        </p:txBody>
      </p:sp>
      <p:sp>
        <p:nvSpPr>
          <p:cNvPr id="16" name="Text 13"/>
          <p:cNvSpPr/>
          <p:nvPr/>
        </p:nvSpPr>
        <p:spPr>
          <a:xfrm>
            <a:off x="464344" y="2462752"/>
            <a:ext cx="3864769" cy="100013"/>
          </a:xfrm>
          <a:prstGeom prst="rect">
            <a:avLst/>
          </a:prstGeom>
          <a:noFill/>
          <a:ln/>
        </p:spPr>
        <p:txBody>
          <a:bodyPr wrap="none" lIns="0" tIns="0" rIns="0" bIns="0" rtlCol="0" anchor="t">
            <a:spAutoFit/>
          </a:bodyPr>
          <a:lstStyle/>
          <a:p>
            <a:pPr algn="l" indent="0" marL="0">
              <a:lnSpc>
                <a:spcPts val="800"/>
              </a:lnSpc>
              <a:buNone/>
            </a:pPr>
            <a:r>
              <a:rPr lang="en-US" sz="516" dirty="0">
                <a:solidFill>
                  <a:srgbClr val="7FFF00"/>
                </a:solidFill>
                <a:latin typeface="Noto Sans" pitchFamily="34" charset="0"/>
                <a:ea typeface="Noto Sans" pitchFamily="34" charset="-122"/>
                <a:cs typeface="Noto Sans" pitchFamily="34" charset="-120"/>
              </a:rPr>
              <a:t>Tuş girişlerini kontrol eder, moveDirection vektörü oluşturur ve transform.Translate() ile uygulanır.</a:t>
            </a:r>
            <a:endParaRPr lang="en-US" sz="516" dirty="0"/>
          </a:p>
        </p:txBody>
      </p:sp>
      <p:sp>
        <p:nvSpPr>
          <p:cNvPr id="17" name="Shape 14"/>
          <p:cNvSpPr/>
          <p:nvPr/>
        </p:nvSpPr>
        <p:spPr>
          <a:xfrm>
            <a:off x="4636294" y="726877"/>
            <a:ext cx="4221956" cy="2071632"/>
          </a:xfrm>
          <a:prstGeom prst="rect">
            <a:avLst/>
          </a:prstGeom>
          <a:solidFill>
            <a:srgbClr val="1A1A1A"/>
          </a:solidFill>
          <a:ln w="198">
            <a:solidFill>
              <a:srgbClr val="39FF14"/>
            </a:solidFill>
            <a:prstDash val="solid"/>
          </a:ln>
        </p:spPr>
      </p:sp>
      <p:sp>
        <p:nvSpPr>
          <p:cNvPr id="18" name="Text 15"/>
          <p:cNvSpPr/>
          <p:nvPr/>
        </p:nvSpPr>
        <p:spPr>
          <a:xfrm>
            <a:off x="4743450" y="834033"/>
            <a:ext cx="4007644" cy="210741"/>
          </a:xfrm>
          <a:prstGeom prst="rect">
            <a:avLst/>
          </a:prstGeom>
          <a:noFill/>
          <a:ln/>
        </p:spPr>
        <p:txBody>
          <a:bodyPr wrap="square" lIns="0" tIns="0" rIns="0" bIns="68072" rtlCol="0" anchor="t">
            <a:spAutoFit/>
          </a:bodyPr>
          <a:lstStyle/>
          <a:p>
            <a:pPr algn="l" indent="0" marL="0">
              <a:lnSpc>
                <a:spcPts val="1000"/>
              </a:lnSpc>
              <a:buNone/>
            </a:pPr>
            <a:r>
              <a:rPr lang="en-US" sz="734" b="1" spc="1" kern="0" dirty="0">
                <a:solidFill>
                  <a:srgbClr val="00FF41"/>
                </a:solidFill>
                <a:latin typeface="Noto Sans" pitchFamily="34" charset="0"/>
                <a:ea typeface="Noto Sans" pitchFamily="34" charset="-122"/>
                <a:cs typeface="Noto Sans" pitchFamily="34" charset="-120"/>
              </a:rPr>
              <a:t>TowerAimAndShoot Script</a:t>
            </a:r>
            <a:endParaRPr lang="en-US" sz="734" dirty="0"/>
          </a:p>
        </p:txBody>
      </p:sp>
      <p:sp>
        <p:nvSpPr>
          <p:cNvPr id="19" name="Text 16"/>
          <p:cNvSpPr/>
          <p:nvPr/>
        </p:nvSpPr>
        <p:spPr>
          <a:xfrm>
            <a:off x="4743450" y="1116211"/>
            <a:ext cx="4007644"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00FF41"/>
                </a:solidFill>
                <a:latin typeface="Noto Sans" pitchFamily="34" charset="0"/>
                <a:ea typeface="Noto Sans" pitchFamily="34" charset="-122"/>
                <a:cs typeface="Noto Sans" pitchFamily="34" charset="-120"/>
              </a:rPr>
              <a:t>ATEŞ PARAMETRELER</a:t>
            </a:r>
            <a:endParaRPr lang="en-US" sz="584" dirty="0"/>
          </a:p>
        </p:txBody>
      </p:sp>
      <p:sp>
        <p:nvSpPr>
          <p:cNvPr id="20" name="Text 17"/>
          <p:cNvSpPr/>
          <p:nvPr/>
        </p:nvSpPr>
        <p:spPr>
          <a:xfrm>
            <a:off x="4743450" y="1268016"/>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rotationSpeed = 10f (Dönüş hızı)</a:t>
            </a:r>
            <a:endParaRPr lang="en-US" sz="568" dirty="0"/>
          </a:p>
        </p:txBody>
      </p:sp>
      <p:sp>
        <p:nvSpPr>
          <p:cNvPr id="21" name="Text 18"/>
          <p:cNvSpPr/>
          <p:nvPr/>
        </p:nvSpPr>
        <p:spPr>
          <a:xfrm>
            <a:off x="4743450" y="1406593"/>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fireRate = 0.25f (Ateş aralığı)</a:t>
            </a:r>
            <a:endParaRPr lang="en-US" sz="568" dirty="0"/>
          </a:p>
        </p:txBody>
      </p:sp>
      <p:sp>
        <p:nvSpPr>
          <p:cNvPr id="22" name="Text 19"/>
          <p:cNvSpPr/>
          <p:nvPr/>
        </p:nvSpPr>
        <p:spPr>
          <a:xfrm>
            <a:off x="4743450" y="1616608"/>
            <a:ext cx="4007644"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00FF41"/>
                </a:solidFill>
                <a:latin typeface="Noto Sans" pitchFamily="34" charset="0"/>
                <a:ea typeface="Noto Sans" pitchFamily="34" charset="-122"/>
                <a:cs typeface="Noto Sans" pitchFamily="34" charset="-120"/>
              </a:rPr>
              <a:t>HIZLI ATEŞ MODU</a:t>
            </a:r>
            <a:endParaRPr lang="en-US" sz="584" dirty="0"/>
          </a:p>
        </p:txBody>
      </p:sp>
      <p:sp>
        <p:nvSpPr>
          <p:cNvPr id="23" name="Text 20"/>
          <p:cNvSpPr/>
          <p:nvPr/>
        </p:nvSpPr>
        <p:spPr>
          <a:xfrm>
            <a:off x="4743450" y="1768413"/>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rapidFireDuration = 3f</a:t>
            </a:r>
            <a:endParaRPr lang="en-US" sz="568" dirty="0"/>
          </a:p>
        </p:txBody>
      </p:sp>
      <p:sp>
        <p:nvSpPr>
          <p:cNvPr id="24" name="Text 21"/>
          <p:cNvSpPr/>
          <p:nvPr/>
        </p:nvSpPr>
        <p:spPr>
          <a:xfrm>
            <a:off x="4743450" y="1906991"/>
            <a:ext cx="4007644"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rapidFireCooldown = 7f</a:t>
            </a:r>
            <a:endParaRPr lang="en-US" sz="568" dirty="0"/>
          </a:p>
        </p:txBody>
      </p:sp>
      <p:sp>
        <p:nvSpPr>
          <p:cNvPr id="25" name="Shape 22"/>
          <p:cNvSpPr/>
          <p:nvPr/>
        </p:nvSpPr>
        <p:spPr>
          <a:xfrm>
            <a:off x="4743450" y="2117006"/>
            <a:ext cx="4007644" cy="378619"/>
          </a:xfrm>
          <a:prstGeom prst="rect">
            <a:avLst/>
          </a:prstGeom>
          <a:solidFill>
            <a:srgbClr val="0A0E0D"/>
          </a:solidFill>
          <a:ln/>
        </p:spPr>
      </p:sp>
      <p:sp>
        <p:nvSpPr>
          <p:cNvPr id="26" name="Shape 23"/>
          <p:cNvSpPr/>
          <p:nvPr/>
        </p:nvSpPr>
        <p:spPr>
          <a:xfrm>
            <a:off x="4743450" y="2117006"/>
            <a:ext cx="14288" cy="378619"/>
          </a:xfrm>
          <a:prstGeom prst="rect">
            <a:avLst/>
          </a:prstGeom>
          <a:solidFill>
            <a:srgbClr val="00FF41"/>
          </a:solidFill>
          <a:ln/>
        </p:spPr>
      </p:sp>
      <p:sp>
        <p:nvSpPr>
          <p:cNvPr id="27" name="Text 24"/>
          <p:cNvSpPr/>
          <p:nvPr/>
        </p:nvSpPr>
        <p:spPr>
          <a:xfrm>
            <a:off x="4814888" y="2188443"/>
            <a:ext cx="3864769" cy="107156"/>
          </a:xfrm>
          <a:prstGeom prst="rect">
            <a:avLst/>
          </a:prstGeom>
          <a:noFill/>
          <a:ln/>
        </p:spPr>
        <p:txBody>
          <a:bodyPr wrap="none" lIns="0" tIns="0" rIns="0" bIns="0" rtlCol="0" anchor="t">
            <a:spAutoFit/>
          </a:bodyPr>
          <a:lstStyle/>
          <a:p>
            <a:pPr algn="l" indent="0" marL="0">
              <a:lnSpc>
                <a:spcPts val="700"/>
              </a:lnSpc>
              <a:buNone/>
            </a:pPr>
            <a:r>
              <a:rPr lang="en-US" sz="534" b="1" dirty="0">
                <a:solidFill>
                  <a:srgbClr val="00FF41"/>
                </a:solidFill>
                <a:latin typeface="Noto Sans" pitchFamily="34" charset="0"/>
                <a:ea typeface="Noto Sans" pitchFamily="34" charset="-122"/>
                <a:cs typeface="Noto Sans" pitchFamily="34" charset="-120"/>
              </a:rPr>
              <a:t>RotateWithMouse()</a:t>
            </a:r>
            <a:endParaRPr lang="en-US" sz="534" dirty="0"/>
          </a:p>
        </p:txBody>
      </p:sp>
      <p:sp>
        <p:nvSpPr>
          <p:cNvPr id="28" name="Text 25"/>
          <p:cNvSpPr/>
          <p:nvPr/>
        </p:nvSpPr>
        <p:spPr>
          <a:xfrm>
            <a:off x="4814888" y="2324174"/>
            <a:ext cx="3864769" cy="100013"/>
          </a:xfrm>
          <a:prstGeom prst="rect">
            <a:avLst/>
          </a:prstGeom>
          <a:noFill/>
          <a:ln/>
        </p:spPr>
        <p:txBody>
          <a:bodyPr wrap="none" lIns="0" tIns="0" rIns="0" bIns="0" rtlCol="0" anchor="t">
            <a:spAutoFit/>
          </a:bodyPr>
          <a:lstStyle/>
          <a:p>
            <a:pPr algn="l" indent="0" marL="0">
              <a:lnSpc>
                <a:spcPts val="800"/>
              </a:lnSpc>
              <a:buNone/>
            </a:pPr>
            <a:r>
              <a:rPr lang="en-US" sz="516" dirty="0">
                <a:solidFill>
                  <a:srgbClr val="7FFF00"/>
                </a:solidFill>
                <a:latin typeface="Noto Sans" pitchFamily="34" charset="0"/>
                <a:ea typeface="Noto Sans" pitchFamily="34" charset="-122"/>
                <a:cs typeface="Noto Sans" pitchFamily="34" charset="-120"/>
              </a:rPr>
              <a:t>Fare konumuna göre oyuncu döner. Raycast ile hedef belirlenir ve dönüş hesaplanır.</a:t>
            </a:r>
            <a:endParaRPr lang="en-US" sz="516" dirty="0"/>
          </a:p>
        </p:txBody>
      </p:sp>
      <p:sp>
        <p:nvSpPr>
          <p:cNvPr id="29" name="Shape 26"/>
          <p:cNvSpPr/>
          <p:nvPr/>
        </p:nvSpPr>
        <p:spPr>
          <a:xfrm>
            <a:off x="285750" y="2927096"/>
            <a:ext cx="8572500" cy="1803016"/>
          </a:xfrm>
          <a:prstGeom prst="rect">
            <a:avLst/>
          </a:prstGeom>
          <a:solidFill>
            <a:srgbClr val="1A1A1A"/>
          </a:solidFill>
          <a:ln w="198">
            <a:solidFill>
              <a:srgbClr val="39FF14"/>
            </a:solidFill>
            <a:prstDash val="solid"/>
          </a:ln>
        </p:spPr>
      </p:sp>
      <p:sp>
        <p:nvSpPr>
          <p:cNvPr id="30" name="Text 27"/>
          <p:cNvSpPr/>
          <p:nvPr/>
        </p:nvSpPr>
        <p:spPr>
          <a:xfrm>
            <a:off x="392906" y="3034252"/>
            <a:ext cx="8358188" cy="210741"/>
          </a:xfrm>
          <a:prstGeom prst="rect">
            <a:avLst/>
          </a:prstGeom>
          <a:noFill/>
          <a:ln/>
        </p:spPr>
        <p:txBody>
          <a:bodyPr wrap="square" lIns="0" tIns="0" rIns="0" bIns="68072" rtlCol="0" anchor="t">
            <a:spAutoFit/>
          </a:bodyPr>
          <a:lstStyle/>
          <a:p>
            <a:pPr algn="l" indent="0" marL="0">
              <a:lnSpc>
                <a:spcPts val="1000"/>
              </a:lnSpc>
              <a:buNone/>
            </a:pPr>
            <a:r>
              <a:rPr lang="en-US" sz="734" b="1" spc="1" kern="0" dirty="0">
                <a:solidFill>
                  <a:srgbClr val="00FF41"/>
                </a:solidFill>
                <a:latin typeface="Noto Sans" pitchFamily="34" charset="0"/>
                <a:ea typeface="Noto Sans" pitchFamily="34" charset="-122"/>
                <a:cs typeface="Noto Sans" pitchFamily="34" charset="-120"/>
              </a:rPr>
              <a:t>Kontrol Mekanizmaları</a:t>
            </a:r>
            <a:endParaRPr lang="en-US" sz="734" dirty="0"/>
          </a:p>
        </p:txBody>
      </p:sp>
      <p:sp>
        <p:nvSpPr>
          <p:cNvPr id="31" name="Text 28"/>
          <p:cNvSpPr/>
          <p:nvPr/>
        </p:nvSpPr>
        <p:spPr>
          <a:xfrm>
            <a:off x="392906" y="3316430"/>
            <a:ext cx="8358188"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00FF41"/>
                </a:solidFill>
                <a:latin typeface="Noto Sans" pitchFamily="34" charset="0"/>
                <a:ea typeface="Noto Sans" pitchFamily="34" charset="-122"/>
                <a:cs typeface="Noto Sans" pitchFamily="34" charset="-120"/>
              </a:rPr>
              <a:t>ATEŞ ETME</a:t>
            </a:r>
            <a:endParaRPr lang="en-US" sz="584" dirty="0"/>
          </a:p>
        </p:txBody>
      </p:sp>
      <p:sp>
        <p:nvSpPr>
          <p:cNvPr id="32" name="Text 29"/>
          <p:cNvSpPr/>
          <p:nvPr/>
        </p:nvSpPr>
        <p:spPr>
          <a:xfrm>
            <a:off x="392906" y="3468235"/>
            <a:ext cx="8358188"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Space tuşu = Normal ateş</a:t>
            </a:r>
            <a:endParaRPr lang="en-US" sz="568" dirty="0"/>
          </a:p>
        </p:txBody>
      </p:sp>
      <p:sp>
        <p:nvSpPr>
          <p:cNvPr id="33" name="Text 30"/>
          <p:cNvSpPr/>
          <p:nvPr/>
        </p:nvSpPr>
        <p:spPr>
          <a:xfrm>
            <a:off x="392906" y="3606812"/>
            <a:ext cx="8358188"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Mermi hızı = 10 birim/saniye</a:t>
            </a:r>
            <a:endParaRPr lang="en-US" sz="568" dirty="0"/>
          </a:p>
        </p:txBody>
      </p:sp>
      <p:sp>
        <p:nvSpPr>
          <p:cNvPr id="34" name="Text 31"/>
          <p:cNvSpPr/>
          <p:nvPr/>
        </p:nvSpPr>
        <p:spPr>
          <a:xfrm>
            <a:off x="392906" y="3745390"/>
            <a:ext cx="8358188"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Mermi yaşam süresi = 5 saniye</a:t>
            </a:r>
            <a:endParaRPr lang="en-US" sz="568" dirty="0"/>
          </a:p>
        </p:txBody>
      </p:sp>
      <p:sp>
        <p:nvSpPr>
          <p:cNvPr id="35" name="Text 32"/>
          <p:cNvSpPr/>
          <p:nvPr/>
        </p:nvSpPr>
        <p:spPr>
          <a:xfrm>
            <a:off x="392906" y="3955405"/>
            <a:ext cx="8358188"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00FF41"/>
                </a:solidFill>
                <a:latin typeface="Noto Sans" pitchFamily="34" charset="0"/>
                <a:ea typeface="Noto Sans" pitchFamily="34" charset="-122"/>
                <a:cs typeface="Noto Sans" pitchFamily="34" charset="-120"/>
              </a:rPr>
              <a:t>HIZLI ATEŞ (BURST FIRE)</a:t>
            </a:r>
            <a:endParaRPr lang="en-US" sz="584" dirty="0"/>
          </a:p>
        </p:txBody>
      </p:sp>
      <p:sp>
        <p:nvSpPr>
          <p:cNvPr id="36" name="Text 33"/>
          <p:cNvSpPr/>
          <p:nvPr/>
        </p:nvSpPr>
        <p:spPr>
          <a:xfrm>
            <a:off x="392906" y="4107210"/>
            <a:ext cx="8358188"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LeftShift tuşu = Etkinleştir</a:t>
            </a:r>
            <a:endParaRPr lang="en-US" sz="568" dirty="0"/>
          </a:p>
        </p:txBody>
      </p:sp>
      <p:sp>
        <p:nvSpPr>
          <p:cNvPr id="37" name="Text 34"/>
          <p:cNvSpPr/>
          <p:nvPr/>
        </p:nvSpPr>
        <p:spPr>
          <a:xfrm>
            <a:off x="392906" y="4245787"/>
            <a:ext cx="8358188"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5 saniye boyunca hızlı ateş yapılabilir</a:t>
            </a:r>
            <a:endParaRPr lang="en-US" sz="568" dirty="0"/>
          </a:p>
        </p:txBody>
      </p:sp>
      <p:sp>
        <p:nvSpPr>
          <p:cNvPr id="38" name="Text 35"/>
          <p:cNvSpPr/>
          <p:nvPr/>
        </p:nvSpPr>
        <p:spPr>
          <a:xfrm>
            <a:off x="392906" y="4384365"/>
            <a:ext cx="8358188" cy="110003"/>
          </a:xfrm>
          <a:prstGeom prst="rect">
            <a:avLst/>
          </a:prstGeom>
          <a:noFill/>
          <a:ln/>
        </p:spPr>
        <p:txBody>
          <a:bodyPr wrap="none" lIns="102108" tIns="0" rIns="0" bIns="0" rtlCol="0" anchor="t">
            <a:spAutoFit/>
          </a:bodyPr>
          <a:lstStyle/>
          <a:p>
            <a:pPr algn="l" indent="0" marL="0">
              <a:lnSpc>
                <a:spcPts val="900"/>
              </a:lnSpc>
              <a:buNone/>
            </a:pPr>
            <a:r>
              <a:rPr lang="en-US" sz="568" dirty="0">
                <a:solidFill>
                  <a:srgbClr val="7FFF00"/>
                </a:solidFill>
                <a:latin typeface="Noto Sans" pitchFamily="34" charset="0"/>
                <a:ea typeface="Noto Sans" pitchFamily="34" charset="-122"/>
                <a:cs typeface="Noto Sans" pitchFamily="34" charset="-120"/>
              </a:rPr>
              <a:t>Kullanım sonrası 10 saniye bekleme süresi</a:t>
            </a:r>
            <a:endParaRPr lang="en-US" sz="568" dirty="0"/>
          </a:p>
        </p:txBody>
      </p:sp>
      <p:sp>
        <p:nvSpPr>
          <p:cNvPr id="39" name="Shape 36"/>
          <p:cNvSpPr/>
          <p:nvPr/>
        </p:nvSpPr>
        <p:spPr>
          <a:xfrm>
            <a:off x="285750" y="4830124"/>
            <a:ext cx="8572500" cy="735081"/>
          </a:xfrm>
          <a:prstGeom prst="rect">
            <a:avLst/>
          </a:prstGeom>
          <a:solidFill>
            <a:srgbClr val="1A1A1A"/>
          </a:solidFill>
          <a:ln w="198">
            <a:solidFill>
              <a:srgbClr val="00FF41"/>
            </a:solidFill>
            <a:prstDash val="solid"/>
          </a:ln>
        </p:spPr>
      </p:sp>
      <p:sp>
        <p:nvSpPr>
          <p:cNvPr id="40" name="Text 37"/>
          <p:cNvSpPr/>
          <p:nvPr/>
        </p:nvSpPr>
        <p:spPr>
          <a:xfrm>
            <a:off x="392906" y="4937280"/>
            <a:ext cx="8358188" cy="146447"/>
          </a:xfrm>
          <a:prstGeom prst="rect">
            <a:avLst/>
          </a:prstGeom>
          <a:noFill/>
          <a:ln/>
        </p:spPr>
        <p:txBody>
          <a:bodyPr wrap="none" lIns="0" tIns="0" rIns="0" bIns="0" rtlCol="0" anchor="t">
            <a:spAutoFit/>
          </a:bodyPr>
          <a:lstStyle/>
          <a:p>
            <a:pPr algn="l" indent="0" marL="0">
              <a:lnSpc>
                <a:spcPts val="1000"/>
              </a:lnSpc>
              <a:buNone/>
            </a:pPr>
            <a:r>
              <a:rPr lang="en-US" sz="734" b="1" spc="1" kern="0" dirty="0">
                <a:solidFill>
                  <a:srgbClr val="00FF41"/>
                </a:solidFill>
                <a:latin typeface="Noto Sans" pitchFamily="34" charset="0"/>
                <a:ea typeface="Noto Sans" pitchFamily="34" charset="-122"/>
                <a:cs typeface="Noto Sans" pitchFamily="34" charset="-120"/>
              </a:rPr>
              <a:t>ENTEGRASYON</a:t>
            </a:r>
            <a:endParaRPr lang="en-US" sz="734" dirty="0"/>
          </a:p>
        </p:txBody>
      </p:sp>
      <p:sp>
        <p:nvSpPr>
          <p:cNvPr id="41" name="Text 38"/>
          <p:cNvSpPr/>
          <p:nvPr/>
        </p:nvSpPr>
        <p:spPr>
          <a:xfrm>
            <a:off x="392906" y="5155164"/>
            <a:ext cx="8358188" cy="274309"/>
          </a:xfrm>
          <a:prstGeom prst="rect">
            <a:avLst/>
          </a:prstGeom>
          <a:noFill/>
          <a:ln/>
        </p:spPr>
        <p:txBody>
          <a:bodyPr wrap="square" lIns="0" tIns="0" rIns="0" bIns="0" rtlCol="0" anchor="t">
            <a:spAutoFit/>
          </a:bodyPr>
          <a:lstStyle/>
          <a:p>
            <a:pPr algn="l" indent="0" marL="0">
              <a:lnSpc>
                <a:spcPts val="1100"/>
              </a:lnSpc>
              <a:buNone/>
            </a:pPr>
            <a:r>
              <a:rPr lang="en-US" sz="621" dirty="0">
                <a:solidFill>
                  <a:srgbClr val="7FFF00"/>
                </a:solidFill>
                <a:latin typeface="Noto Sans" pitchFamily="34" charset="0"/>
                <a:ea typeface="Noto Sans" pitchFamily="34" charset="-122"/>
                <a:cs typeface="Noto Sans" pitchFamily="34" charset="-120"/>
              </a:rPr>
              <a:t>TowerMove ve TowerAimAndShoot scriptleri birlikte çalışarak oyuncunun hem hareket etmesini hem de ateş etmesini sağlar. Fare kontrolü ile dönüş ve Space/LeftShift tuşları ile ateş etme, oyuncu için tam kontrol sağlar.</a:t>
            </a:r>
            <a:endParaRPr lang="en-US" sz="6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85750" y="717138"/>
            <a:ext cx="8572500" cy="389334"/>
          </a:xfrm>
          <a:prstGeom prst="rect">
            <a:avLst/>
          </a:prstGeom>
          <a:noFill/>
          <a:ln/>
        </p:spPr>
        <p:txBody>
          <a:bodyPr wrap="none" lIns="0" tIns="0" rIns="0" bIns="0" rtlCol="0" anchor="t">
            <a:spAutoFit/>
          </a:bodyPr>
          <a:lstStyle/>
          <a:p>
            <a:pPr algn="ctr" indent="0" marL="0">
              <a:lnSpc>
                <a:spcPts val="2700"/>
              </a:lnSpc>
              <a:buNone/>
            </a:pPr>
            <a:r>
              <a:rPr lang="en-US" sz="2016" b="1" spc="2" kern="0" dirty="0">
                <a:solidFill>
                  <a:srgbClr val="39FF14"/>
                </a:solidFill>
                <a:latin typeface="Noto Sans" pitchFamily="34" charset="0"/>
                <a:ea typeface="Noto Sans" pitchFamily="34" charset="-122"/>
                <a:cs typeface="Noto Sans" pitchFamily="34" charset="-120"/>
              </a:rPr>
              <a:t>ARAYÜZ SİSTEMLERİ</a:t>
            </a:r>
            <a:endParaRPr lang="en-US" sz="2016" dirty="0"/>
          </a:p>
        </p:txBody>
      </p:sp>
      <p:sp>
        <p:nvSpPr>
          <p:cNvPr id="4" name="Shape 1"/>
          <p:cNvSpPr/>
          <p:nvPr/>
        </p:nvSpPr>
        <p:spPr>
          <a:xfrm>
            <a:off x="285750" y="1356503"/>
            <a:ext cx="2762231" cy="3069859"/>
          </a:xfrm>
          <a:prstGeom prst="rect">
            <a:avLst/>
          </a:prstGeom>
          <a:solidFill>
            <a:srgbClr val="1A1A1A"/>
          </a:solidFill>
          <a:ln w="198">
            <a:solidFill>
              <a:srgbClr val="39FF14"/>
            </a:solidFill>
            <a:prstDash val="solid"/>
          </a:ln>
        </p:spPr>
      </p:sp>
      <p:sp>
        <p:nvSpPr>
          <p:cNvPr id="5" name="Text 2"/>
          <p:cNvSpPr/>
          <p:nvPr/>
        </p:nvSpPr>
        <p:spPr>
          <a:xfrm>
            <a:off x="428625" y="1499378"/>
            <a:ext cx="2476481" cy="233958"/>
          </a:xfrm>
          <a:prstGeom prst="rect">
            <a:avLst/>
          </a:prstGeom>
          <a:noFill/>
          <a:ln/>
        </p:spPr>
        <p:txBody>
          <a:bodyPr wrap="square" lIns="0" tIns="0" rIns="0" bIns="8509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SCORE MANAGER</a:t>
            </a:r>
            <a:endParaRPr lang="en-US" sz="784" dirty="0"/>
          </a:p>
        </p:txBody>
      </p:sp>
      <p:sp>
        <p:nvSpPr>
          <p:cNvPr id="6" name="Text 3"/>
          <p:cNvSpPr/>
          <p:nvPr/>
        </p:nvSpPr>
        <p:spPr>
          <a:xfrm>
            <a:off x="428625" y="1840492"/>
            <a:ext cx="2476481"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Puan Yönetimi</a:t>
            </a:r>
            <a:endParaRPr lang="en-US" sz="674" dirty="0"/>
          </a:p>
        </p:txBody>
      </p:sp>
      <p:sp>
        <p:nvSpPr>
          <p:cNvPr id="7" name="Text 4"/>
          <p:cNvSpPr/>
          <p:nvPr/>
        </p:nvSpPr>
        <p:spPr>
          <a:xfrm>
            <a:off x="428625" y="2093370"/>
            <a:ext cx="2476481"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Mermi-Enemy çarpışması</a:t>
            </a:r>
            <a:endParaRPr lang="en-US" sz="674" dirty="0"/>
          </a:p>
        </p:txBody>
      </p:sp>
      <p:sp>
        <p:nvSpPr>
          <p:cNvPr id="8" name="Text 5"/>
          <p:cNvSpPr/>
          <p:nvPr/>
        </p:nvSpPr>
        <p:spPr>
          <a:xfrm>
            <a:off x="428625" y="2346247"/>
            <a:ext cx="2476481"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UI Güncelleme</a:t>
            </a:r>
            <a:endParaRPr lang="en-US" sz="674" dirty="0"/>
          </a:p>
        </p:txBody>
      </p:sp>
      <p:sp>
        <p:nvSpPr>
          <p:cNvPr id="9" name="Text 6"/>
          <p:cNvSpPr/>
          <p:nvPr/>
        </p:nvSpPr>
        <p:spPr>
          <a:xfrm>
            <a:off x="428625" y="2599125"/>
            <a:ext cx="2476481"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STATIK DEĞİŞKEN:</a:t>
            </a:r>
            <a:endParaRPr lang="en-US" sz="584" dirty="0"/>
          </a:p>
        </p:txBody>
      </p:sp>
      <p:sp>
        <p:nvSpPr>
          <p:cNvPr id="10" name="Text 7"/>
          <p:cNvSpPr/>
          <p:nvPr/>
        </p:nvSpPr>
        <p:spPr>
          <a:xfrm>
            <a:off x="535781" y="2789132"/>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public static int score</a:t>
            </a:r>
            <a:endParaRPr lang="en-US" sz="621" dirty="0"/>
          </a:p>
        </p:txBody>
      </p:sp>
      <p:sp>
        <p:nvSpPr>
          <p:cNvPr id="11" name="Text 8"/>
          <p:cNvSpPr/>
          <p:nvPr/>
        </p:nvSpPr>
        <p:spPr>
          <a:xfrm>
            <a:off x="428625" y="3014858"/>
            <a:ext cx="2476481"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METODLAR:</a:t>
            </a:r>
            <a:endParaRPr lang="en-US" sz="584" dirty="0"/>
          </a:p>
        </p:txBody>
      </p:sp>
      <p:sp>
        <p:nvSpPr>
          <p:cNvPr id="12" name="Text 9"/>
          <p:cNvSpPr/>
          <p:nvPr/>
        </p:nvSpPr>
        <p:spPr>
          <a:xfrm>
            <a:off x="535781" y="3204865"/>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AddScore(int amount)</a:t>
            </a:r>
            <a:endParaRPr lang="en-US" sz="621" dirty="0"/>
          </a:p>
        </p:txBody>
      </p:sp>
      <p:sp>
        <p:nvSpPr>
          <p:cNvPr id="13" name="Text 10"/>
          <p:cNvSpPr/>
          <p:nvPr/>
        </p:nvSpPr>
        <p:spPr>
          <a:xfrm>
            <a:off x="535781" y="3416303"/>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UpdateText()</a:t>
            </a:r>
            <a:endParaRPr lang="en-US" sz="621" dirty="0"/>
          </a:p>
        </p:txBody>
      </p:sp>
      <p:sp>
        <p:nvSpPr>
          <p:cNvPr id="14" name="Text 11"/>
          <p:cNvSpPr/>
          <p:nvPr/>
        </p:nvSpPr>
        <p:spPr>
          <a:xfrm>
            <a:off x="428625" y="3642029"/>
            <a:ext cx="2476481"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REFERANS:</a:t>
            </a:r>
            <a:endParaRPr lang="en-US" sz="584" dirty="0"/>
          </a:p>
        </p:txBody>
      </p:sp>
      <p:sp>
        <p:nvSpPr>
          <p:cNvPr id="15" name="Text 12"/>
          <p:cNvSpPr/>
          <p:nvPr/>
        </p:nvSpPr>
        <p:spPr>
          <a:xfrm>
            <a:off x="535781" y="3832036"/>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TextMeshProUGUI</a:t>
            </a:r>
            <a:endParaRPr lang="en-US" sz="621" dirty="0"/>
          </a:p>
        </p:txBody>
      </p:sp>
      <p:sp>
        <p:nvSpPr>
          <p:cNvPr id="16" name="Shape 13"/>
          <p:cNvSpPr/>
          <p:nvPr/>
        </p:nvSpPr>
        <p:spPr>
          <a:xfrm>
            <a:off x="3190856" y="1356503"/>
            <a:ext cx="2762259" cy="3069859"/>
          </a:xfrm>
          <a:prstGeom prst="rect">
            <a:avLst/>
          </a:prstGeom>
          <a:solidFill>
            <a:srgbClr val="1A1A1A"/>
          </a:solidFill>
          <a:ln w="198">
            <a:solidFill>
              <a:srgbClr val="39FF14"/>
            </a:solidFill>
            <a:prstDash val="solid"/>
          </a:ln>
        </p:spPr>
      </p:sp>
      <p:sp>
        <p:nvSpPr>
          <p:cNvPr id="17" name="Text 14"/>
          <p:cNvSpPr/>
          <p:nvPr/>
        </p:nvSpPr>
        <p:spPr>
          <a:xfrm>
            <a:off x="3333731" y="1499378"/>
            <a:ext cx="2476509" cy="233958"/>
          </a:xfrm>
          <a:prstGeom prst="rect">
            <a:avLst/>
          </a:prstGeom>
          <a:noFill/>
          <a:ln/>
        </p:spPr>
        <p:txBody>
          <a:bodyPr wrap="square" lIns="0" tIns="0" rIns="0" bIns="8509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WAVE UI</a:t>
            </a:r>
            <a:endParaRPr lang="en-US" sz="784" dirty="0"/>
          </a:p>
        </p:txBody>
      </p:sp>
      <p:sp>
        <p:nvSpPr>
          <p:cNvPr id="18" name="Text 15"/>
          <p:cNvSpPr/>
          <p:nvPr/>
        </p:nvSpPr>
        <p:spPr>
          <a:xfrm>
            <a:off x="3333731" y="1840492"/>
            <a:ext cx="2476509"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Dalga Gösterimi</a:t>
            </a:r>
            <a:endParaRPr lang="en-US" sz="674" dirty="0"/>
          </a:p>
        </p:txBody>
      </p:sp>
      <p:sp>
        <p:nvSpPr>
          <p:cNvPr id="19" name="Text 16"/>
          <p:cNvSpPr/>
          <p:nvPr/>
        </p:nvSpPr>
        <p:spPr>
          <a:xfrm>
            <a:off x="3333731" y="2093370"/>
            <a:ext cx="2476509"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1 dakika aralığı</a:t>
            </a:r>
            <a:endParaRPr lang="en-US" sz="674" dirty="0"/>
          </a:p>
        </p:txBody>
      </p:sp>
      <p:sp>
        <p:nvSpPr>
          <p:cNvPr id="20" name="Text 17"/>
          <p:cNvSpPr/>
          <p:nvPr/>
        </p:nvSpPr>
        <p:spPr>
          <a:xfrm>
            <a:off x="3333731" y="2346247"/>
            <a:ext cx="2476509"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Zorluk Göstergesi</a:t>
            </a:r>
            <a:endParaRPr lang="en-US" sz="674" dirty="0"/>
          </a:p>
        </p:txBody>
      </p:sp>
      <p:sp>
        <p:nvSpPr>
          <p:cNvPr id="21" name="Text 18"/>
          <p:cNvSpPr/>
          <p:nvPr/>
        </p:nvSpPr>
        <p:spPr>
          <a:xfrm>
            <a:off x="3333731" y="2599125"/>
            <a:ext cx="2476509"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STATIK DEĞİŞKEN:</a:t>
            </a:r>
            <a:endParaRPr lang="en-US" sz="584" dirty="0"/>
          </a:p>
        </p:txBody>
      </p:sp>
      <p:sp>
        <p:nvSpPr>
          <p:cNvPr id="22" name="Text 19"/>
          <p:cNvSpPr/>
          <p:nvPr/>
        </p:nvSpPr>
        <p:spPr>
          <a:xfrm>
            <a:off x="3440888" y="2789132"/>
            <a:ext cx="2369353"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public static int wave</a:t>
            </a:r>
            <a:endParaRPr lang="en-US" sz="621" dirty="0"/>
          </a:p>
        </p:txBody>
      </p:sp>
      <p:sp>
        <p:nvSpPr>
          <p:cNvPr id="23" name="Text 20"/>
          <p:cNvSpPr/>
          <p:nvPr/>
        </p:nvSpPr>
        <p:spPr>
          <a:xfrm>
            <a:off x="3333731" y="3014858"/>
            <a:ext cx="2476509"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METODLAR:</a:t>
            </a:r>
            <a:endParaRPr lang="en-US" sz="584" dirty="0"/>
          </a:p>
        </p:txBody>
      </p:sp>
      <p:sp>
        <p:nvSpPr>
          <p:cNvPr id="24" name="Text 21"/>
          <p:cNvSpPr/>
          <p:nvPr/>
        </p:nvSpPr>
        <p:spPr>
          <a:xfrm>
            <a:off x="3440888" y="3204865"/>
            <a:ext cx="2369353"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AddWave()</a:t>
            </a:r>
            <a:endParaRPr lang="en-US" sz="621" dirty="0"/>
          </a:p>
        </p:txBody>
      </p:sp>
      <p:sp>
        <p:nvSpPr>
          <p:cNvPr id="25" name="Text 22"/>
          <p:cNvSpPr/>
          <p:nvPr/>
        </p:nvSpPr>
        <p:spPr>
          <a:xfrm>
            <a:off x="3440888" y="3416303"/>
            <a:ext cx="2369353"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UpdateText()</a:t>
            </a:r>
            <a:endParaRPr lang="en-US" sz="621" dirty="0"/>
          </a:p>
        </p:txBody>
      </p:sp>
      <p:sp>
        <p:nvSpPr>
          <p:cNvPr id="26" name="Text 23"/>
          <p:cNvSpPr/>
          <p:nvPr/>
        </p:nvSpPr>
        <p:spPr>
          <a:xfrm>
            <a:off x="3333731" y="3642029"/>
            <a:ext cx="2476509"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ZAMANLAMA:</a:t>
            </a:r>
            <a:endParaRPr lang="en-US" sz="584" dirty="0"/>
          </a:p>
        </p:txBody>
      </p:sp>
      <p:sp>
        <p:nvSpPr>
          <p:cNvPr id="27" name="Text 24"/>
          <p:cNvSpPr/>
          <p:nvPr/>
        </p:nvSpPr>
        <p:spPr>
          <a:xfrm>
            <a:off x="3440888" y="3832036"/>
            <a:ext cx="2369353"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InvokeRepeating(60f)</a:t>
            </a:r>
            <a:endParaRPr lang="en-US" sz="621" dirty="0"/>
          </a:p>
        </p:txBody>
      </p:sp>
      <p:sp>
        <p:nvSpPr>
          <p:cNvPr id="28" name="Shape 25"/>
          <p:cNvSpPr/>
          <p:nvPr/>
        </p:nvSpPr>
        <p:spPr>
          <a:xfrm>
            <a:off x="6095991" y="1356503"/>
            <a:ext cx="2762231" cy="3069859"/>
          </a:xfrm>
          <a:prstGeom prst="rect">
            <a:avLst/>
          </a:prstGeom>
          <a:solidFill>
            <a:srgbClr val="1A1A1A"/>
          </a:solidFill>
          <a:ln w="198">
            <a:solidFill>
              <a:srgbClr val="39FF14"/>
            </a:solidFill>
            <a:prstDash val="solid"/>
          </a:ln>
        </p:spPr>
      </p:sp>
      <p:sp>
        <p:nvSpPr>
          <p:cNvPr id="29" name="Text 26"/>
          <p:cNvSpPr/>
          <p:nvPr/>
        </p:nvSpPr>
        <p:spPr>
          <a:xfrm>
            <a:off x="6238866" y="1513666"/>
            <a:ext cx="2476481" cy="233958"/>
          </a:xfrm>
          <a:prstGeom prst="rect">
            <a:avLst/>
          </a:prstGeom>
          <a:noFill/>
          <a:ln/>
        </p:spPr>
        <p:txBody>
          <a:bodyPr wrap="square" lIns="0" tIns="0" rIns="0" bIns="8509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GAME OVER UI</a:t>
            </a:r>
            <a:endParaRPr lang="en-US" sz="784" dirty="0"/>
          </a:p>
        </p:txBody>
      </p:sp>
      <p:sp>
        <p:nvSpPr>
          <p:cNvPr id="30" name="Text 27"/>
          <p:cNvSpPr/>
          <p:nvPr/>
        </p:nvSpPr>
        <p:spPr>
          <a:xfrm>
            <a:off x="6238866" y="1854780"/>
            <a:ext cx="2476481"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Oyun Sonu Paneli</a:t>
            </a:r>
            <a:endParaRPr lang="en-US" sz="674" dirty="0"/>
          </a:p>
        </p:txBody>
      </p:sp>
      <p:sp>
        <p:nvSpPr>
          <p:cNvPr id="31" name="Text 28"/>
          <p:cNvSpPr/>
          <p:nvPr/>
        </p:nvSpPr>
        <p:spPr>
          <a:xfrm>
            <a:off x="6238866" y="2107657"/>
            <a:ext cx="2476481"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Restart Butonu</a:t>
            </a:r>
            <a:endParaRPr lang="en-US" sz="674" dirty="0"/>
          </a:p>
        </p:txBody>
      </p:sp>
      <p:sp>
        <p:nvSpPr>
          <p:cNvPr id="32" name="Text 29"/>
          <p:cNvSpPr/>
          <p:nvPr/>
        </p:nvSpPr>
        <p:spPr>
          <a:xfrm>
            <a:off x="6238866" y="2360535"/>
            <a:ext cx="2476481" cy="167153"/>
          </a:xfrm>
          <a:prstGeom prst="rect">
            <a:avLst/>
          </a:prstGeom>
          <a:noFill/>
          <a:ln/>
        </p:spPr>
        <p:txBody>
          <a:bodyPr wrap="none" lIns="1021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Sahne Yenileme</a:t>
            </a:r>
            <a:endParaRPr lang="en-US" sz="674" dirty="0"/>
          </a:p>
        </p:txBody>
      </p:sp>
      <p:sp>
        <p:nvSpPr>
          <p:cNvPr id="33" name="Text 30"/>
          <p:cNvSpPr/>
          <p:nvPr/>
        </p:nvSpPr>
        <p:spPr>
          <a:xfrm>
            <a:off x="6238866" y="2613413"/>
            <a:ext cx="2476481"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REFERANSLAR:</a:t>
            </a:r>
            <a:endParaRPr lang="en-US" sz="584" dirty="0"/>
          </a:p>
        </p:txBody>
      </p:sp>
      <p:sp>
        <p:nvSpPr>
          <p:cNvPr id="34" name="Text 31"/>
          <p:cNvSpPr/>
          <p:nvPr/>
        </p:nvSpPr>
        <p:spPr>
          <a:xfrm>
            <a:off x="6346022" y="2803420"/>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GameOverPanel</a:t>
            </a:r>
            <a:endParaRPr lang="en-US" sz="621" dirty="0"/>
          </a:p>
        </p:txBody>
      </p:sp>
      <p:sp>
        <p:nvSpPr>
          <p:cNvPr id="35" name="Text 32"/>
          <p:cNvSpPr/>
          <p:nvPr/>
        </p:nvSpPr>
        <p:spPr>
          <a:xfrm>
            <a:off x="6346022" y="3014858"/>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RestartBtn</a:t>
            </a:r>
            <a:endParaRPr lang="en-US" sz="621" dirty="0"/>
          </a:p>
        </p:txBody>
      </p:sp>
      <p:sp>
        <p:nvSpPr>
          <p:cNvPr id="36" name="Text 33"/>
          <p:cNvSpPr/>
          <p:nvPr/>
        </p:nvSpPr>
        <p:spPr>
          <a:xfrm>
            <a:off x="6238866" y="3240584"/>
            <a:ext cx="2476481"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METODLAR:</a:t>
            </a:r>
            <a:endParaRPr lang="en-US" sz="584" dirty="0"/>
          </a:p>
        </p:txBody>
      </p:sp>
      <p:sp>
        <p:nvSpPr>
          <p:cNvPr id="37" name="Text 34"/>
          <p:cNvSpPr/>
          <p:nvPr/>
        </p:nvSpPr>
        <p:spPr>
          <a:xfrm>
            <a:off x="6346022" y="3430591"/>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Show()</a:t>
            </a:r>
            <a:endParaRPr lang="en-US" sz="621" dirty="0"/>
          </a:p>
        </p:txBody>
      </p:sp>
      <p:sp>
        <p:nvSpPr>
          <p:cNvPr id="38" name="Text 35"/>
          <p:cNvSpPr/>
          <p:nvPr/>
        </p:nvSpPr>
        <p:spPr>
          <a:xfrm>
            <a:off x="6346022" y="3642029"/>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Restart()</a:t>
            </a:r>
            <a:endParaRPr lang="en-US" sz="621" dirty="0"/>
          </a:p>
        </p:txBody>
      </p:sp>
      <p:sp>
        <p:nvSpPr>
          <p:cNvPr id="39" name="Text 36"/>
          <p:cNvSpPr/>
          <p:nvPr/>
        </p:nvSpPr>
        <p:spPr>
          <a:xfrm>
            <a:off x="6238866" y="3867755"/>
            <a:ext cx="2476481" cy="154288"/>
          </a:xfrm>
          <a:prstGeom prst="rect">
            <a:avLst/>
          </a:prstGeom>
          <a:noFill/>
          <a:ln/>
        </p:spPr>
        <p:txBody>
          <a:bodyPr wrap="none" lIns="0" tIns="0" rIns="0" bIns="0" rtlCol="0" anchor="t">
            <a:spAutoFit/>
          </a:bodyPr>
          <a:lstStyle/>
          <a:p>
            <a:pPr algn="l" indent="0" marL="0">
              <a:lnSpc>
                <a:spcPts val="1200"/>
              </a:lnSpc>
              <a:buNone/>
            </a:pPr>
            <a:r>
              <a:rPr lang="en-US" sz="584" b="1" dirty="0">
                <a:solidFill>
                  <a:srgbClr val="00FF41"/>
                </a:solidFill>
                <a:latin typeface="Noto Sans" pitchFamily="34" charset="0"/>
                <a:ea typeface="Noto Sans" pitchFamily="34" charset="-122"/>
                <a:cs typeface="Noto Sans" pitchFamily="34" charset="-120"/>
              </a:rPr>
              <a:t>ZAMANLANDIRıCı:</a:t>
            </a:r>
            <a:endParaRPr lang="en-US" sz="584" dirty="0"/>
          </a:p>
        </p:txBody>
      </p:sp>
      <p:sp>
        <p:nvSpPr>
          <p:cNvPr id="40" name="Text 37"/>
          <p:cNvSpPr/>
          <p:nvPr/>
        </p:nvSpPr>
        <p:spPr>
          <a:xfrm>
            <a:off x="6346022" y="4057762"/>
            <a:ext cx="2369325" cy="154288"/>
          </a:xfrm>
          <a:prstGeom prst="rect">
            <a:avLst/>
          </a:prstGeom>
          <a:noFill/>
          <a:ln/>
        </p:spPr>
        <p:txBody>
          <a:bodyPr wrap="none" lIns="0" tIns="0" rIns="0" bIns="0" rtlCol="0" anchor="t">
            <a:spAutoFit/>
          </a:bodyPr>
          <a:lstStyle/>
          <a:p>
            <a:pPr algn="l" indent="0" marL="0">
              <a:lnSpc>
                <a:spcPts val="1200"/>
              </a:lnSpc>
              <a:buNone/>
            </a:pPr>
            <a:r>
              <a:rPr lang="en-US" sz="621" dirty="0">
                <a:solidFill>
                  <a:srgbClr val="7FFF00"/>
                </a:solidFill>
                <a:latin typeface="Noto Sans" pitchFamily="34" charset="0"/>
                <a:ea typeface="Noto Sans" pitchFamily="34" charset="-122"/>
                <a:cs typeface="Noto Sans" pitchFamily="34" charset="-120"/>
              </a:rPr>
              <a:t>Time.timeScale</a:t>
            </a:r>
            <a:endParaRPr lang="en-US" sz="62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7447220"/>
          </a:xfrm>
          <a:prstGeom prst="rect">
            <a:avLst/>
          </a:prstGeom>
        </p:spPr>
      </p:pic>
      <p:sp>
        <p:nvSpPr>
          <p:cNvPr id="3" name="Text 0"/>
          <p:cNvSpPr/>
          <p:nvPr/>
        </p:nvSpPr>
        <p:spPr>
          <a:xfrm>
            <a:off x="1000125" y="285750"/>
            <a:ext cx="7143750" cy="428625"/>
          </a:xfrm>
          <a:prstGeom prst="rect">
            <a:avLst/>
          </a:prstGeom>
          <a:noFill/>
          <a:ln/>
        </p:spPr>
        <p:txBody>
          <a:bodyPr wrap="none" lIns="0" tIns="0" rIns="0" bIns="0" rtlCol="0" anchor="t">
            <a:spAutoFit/>
          </a:bodyPr>
          <a:lstStyle/>
          <a:p>
            <a:pPr algn="ctr" indent="0" marL="0">
              <a:lnSpc>
                <a:spcPts val="3000"/>
              </a:lnSpc>
              <a:buNone/>
            </a:pPr>
            <a:r>
              <a:rPr lang="en-US" sz="2226" b="1" spc="2" kern="0" dirty="0">
                <a:solidFill>
                  <a:srgbClr val="39FF14"/>
                </a:solidFill>
                <a:latin typeface="Noto Sans" pitchFamily="34" charset="0"/>
                <a:ea typeface="Noto Sans" pitchFamily="34" charset="-122"/>
                <a:cs typeface="Noto Sans" pitchFamily="34" charset="-120"/>
              </a:rPr>
              <a:t>SONUÇ VE DEĞERLENDİRME</a:t>
            </a:r>
            <a:endParaRPr lang="en-US" sz="2226" dirty="0"/>
          </a:p>
        </p:txBody>
      </p:sp>
      <p:sp>
        <p:nvSpPr>
          <p:cNvPr id="4" name="Shape 1"/>
          <p:cNvSpPr/>
          <p:nvPr/>
        </p:nvSpPr>
        <p:spPr>
          <a:xfrm>
            <a:off x="1000125" y="1000125"/>
            <a:ext cx="3482578" cy="1848390"/>
          </a:xfrm>
          <a:prstGeom prst="rect">
            <a:avLst/>
          </a:prstGeom>
          <a:solidFill>
            <a:srgbClr val="1A1A1A"/>
          </a:solidFill>
          <a:ln w="198">
            <a:solidFill>
              <a:srgbClr val="39FF14"/>
            </a:solidFill>
            <a:prstDash val="solid"/>
          </a:ln>
        </p:spPr>
      </p:sp>
      <p:sp>
        <p:nvSpPr>
          <p:cNvPr id="5" name="Text 2"/>
          <p:cNvSpPr/>
          <p:nvPr/>
        </p:nvSpPr>
        <p:spPr>
          <a:xfrm>
            <a:off x="1143000" y="1143000"/>
            <a:ext cx="3196828" cy="233958"/>
          </a:xfrm>
          <a:prstGeom prst="rect">
            <a:avLst/>
          </a:prstGeom>
          <a:noFill/>
          <a:ln/>
        </p:spPr>
        <p:txBody>
          <a:bodyPr wrap="square" lIns="0" tIns="0" rIns="0" bIns="8509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PROJE BAŞARILARI</a:t>
            </a:r>
            <a:endParaRPr lang="en-US" sz="784" dirty="0"/>
          </a:p>
        </p:txBody>
      </p:sp>
      <p:sp>
        <p:nvSpPr>
          <p:cNvPr id="6" name="Text 3"/>
          <p:cNvSpPr/>
          <p:nvPr/>
        </p:nvSpPr>
        <p:spPr>
          <a:xfrm>
            <a:off x="1143000" y="148411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Dalga tabanlı savunma mekaniği başarıyla uygulandı</a:t>
            </a:r>
            <a:endParaRPr lang="en-US" sz="674" dirty="0"/>
          </a:p>
        </p:txBody>
      </p:sp>
      <p:sp>
        <p:nvSpPr>
          <p:cNvPr id="7" name="Text 4"/>
          <p:cNvSpPr/>
          <p:nvPr/>
        </p:nvSpPr>
        <p:spPr>
          <a:xfrm>
            <a:off x="1143000" y="172270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Dinamik zorluk artışı sistemi entegre edildi</a:t>
            </a:r>
            <a:endParaRPr lang="en-US" sz="674" dirty="0"/>
          </a:p>
        </p:txBody>
      </p:sp>
      <p:sp>
        <p:nvSpPr>
          <p:cNvPr id="8" name="Text 5"/>
          <p:cNvSpPr/>
          <p:nvPr/>
        </p:nvSpPr>
        <p:spPr>
          <a:xfrm>
            <a:off x="1143000" y="196129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Temiz ve modüler kod yapısı sağlandı</a:t>
            </a:r>
            <a:endParaRPr lang="en-US" sz="674" dirty="0"/>
          </a:p>
        </p:txBody>
      </p:sp>
      <p:sp>
        <p:nvSpPr>
          <p:cNvPr id="9" name="Text 6"/>
          <p:cNvSpPr/>
          <p:nvPr/>
        </p:nvSpPr>
        <p:spPr>
          <a:xfrm>
            <a:off x="1143000" y="219988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Kullanıcı dostu arayüz tasarımı gerçekleştirildi</a:t>
            </a:r>
            <a:endParaRPr lang="en-US" sz="674" dirty="0"/>
          </a:p>
        </p:txBody>
      </p:sp>
      <p:sp>
        <p:nvSpPr>
          <p:cNvPr id="10" name="Text 7"/>
          <p:cNvSpPr/>
          <p:nvPr/>
        </p:nvSpPr>
        <p:spPr>
          <a:xfrm>
            <a:off x="1143000" y="243847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Çarpışma ve fizik sistemi düzgün çalışıyor</a:t>
            </a:r>
            <a:endParaRPr lang="en-US" sz="674" dirty="0"/>
          </a:p>
        </p:txBody>
      </p:sp>
      <p:sp>
        <p:nvSpPr>
          <p:cNvPr id="11" name="Shape 8"/>
          <p:cNvSpPr/>
          <p:nvPr/>
        </p:nvSpPr>
        <p:spPr>
          <a:xfrm>
            <a:off x="4661297" y="1000125"/>
            <a:ext cx="3482578" cy="1848390"/>
          </a:xfrm>
          <a:prstGeom prst="rect">
            <a:avLst/>
          </a:prstGeom>
          <a:solidFill>
            <a:srgbClr val="1A1A1A"/>
          </a:solidFill>
          <a:ln w="198">
            <a:solidFill>
              <a:srgbClr val="39FF14"/>
            </a:solidFill>
            <a:prstDash val="solid"/>
          </a:ln>
        </p:spPr>
      </p:sp>
      <p:sp>
        <p:nvSpPr>
          <p:cNvPr id="12" name="Text 9"/>
          <p:cNvSpPr/>
          <p:nvPr/>
        </p:nvSpPr>
        <p:spPr>
          <a:xfrm>
            <a:off x="4804172" y="1143000"/>
            <a:ext cx="3196828" cy="233958"/>
          </a:xfrm>
          <a:prstGeom prst="rect">
            <a:avLst/>
          </a:prstGeom>
          <a:noFill/>
          <a:ln/>
        </p:spPr>
        <p:txBody>
          <a:bodyPr wrap="square" lIns="0" tIns="0" rIns="0" bIns="8509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TEKNİK BAŞARILAR</a:t>
            </a:r>
            <a:endParaRPr lang="en-US" sz="784" dirty="0"/>
          </a:p>
        </p:txBody>
      </p:sp>
      <p:sp>
        <p:nvSpPr>
          <p:cNvPr id="13" name="Text 10"/>
          <p:cNvSpPr/>
          <p:nvPr/>
        </p:nvSpPr>
        <p:spPr>
          <a:xfrm>
            <a:off x="4804172" y="148411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8 Script başarıyla entegre edildi</a:t>
            </a:r>
            <a:endParaRPr lang="en-US" sz="674" dirty="0"/>
          </a:p>
        </p:txBody>
      </p:sp>
      <p:sp>
        <p:nvSpPr>
          <p:cNvPr id="14" name="Text 11"/>
          <p:cNvSpPr/>
          <p:nvPr/>
        </p:nvSpPr>
        <p:spPr>
          <a:xfrm>
            <a:off x="4804172" y="172270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Statik değişkenler ile global veri yönetimi</a:t>
            </a:r>
            <a:endParaRPr lang="en-US" sz="674" dirty="0"/>
          </a:p>
        </p:txBody>
      </p:sp>
      <p:sp>
        <p:nvSpPr>
          <p:cNvPr id="15" name="Text 12"/>
          <p:cNvSpPr/>
          <p:nvPr/>
        </p:nvSpPr>
        <p:spPr>
          <a:xfrm>
            <a:off x="4804172" y="196129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Mermi-Enemy çarpışma sistemi optimize edildi</a:t>
            </a:r>
            <a:endParaRPr lang="en-US" sz="674" dirty="0"/>
          </a:p>
        </p:txBody>
      </p:sp>
      <p:sp>
        <p:nvSpPr>
          <p:cNvPr id="16" name="Text 13"/>
          <p:cNvSpPr/>
          <p:nvPr/>
        </p:nvSpPr>
        <p:spPr>
          <a:xfrm>
            <a:off x="4804172" y="219988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Wave tabanlı hız ve spawn artışı</a:t>
            </a:r>
            <a:endParaRPr lang="en-US" sz="674" dirty="0"/>
          </a:p>
        </p:txBody>
      </p:sp>
      <p:sp>
        <p:nvSpPr>
          <p:cNvPr id="17" name="Text 14"/>
          <p:cNvSpPr/>
          <p:nvPr/>
        </p:nvSpPr>
        <p:spPr>
          <a:xfrm>
            <a:off x="4804172" y="2438474"/>
            <a:ext cx="3196828"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Time.timeScale ile oyun durdurma/devam</a:t>
            </a:r>
            <a:endParaRPr lang="en-US" sz="674" dirty="0"/>
          </a:p>
        </p:txBody>
      </p:sp>
      <p:sp>
        <p:nvSpPr>
          <p:cNvPr id="18" name="Shape 15"/>
          <p:cNvSpPr/>
          <p:nvPr/>
        </p:nvSpPr>
        <p:spPr>
          <a:xfrm>
            <a:off x="1000125" y="2998533"/>
            <a:ext cx="7143750" cy="2086980"/>
          </a:xfrm>
          <a:prstGeom prst="rect">
            <a:avLst/>
          </a:prstGeom>
          <a:solidFill>
            <a:srgbClr val="1A1A1A"/>
          </a:solidFill>
          <a:ln w="198">
            <a:solidFill>
              <a:srgbClr val="39FF14"/>
            </a:solidFill>
            <a:prstDash val="solid"/>
          </a:ln>
        </p:spPr>
      </p:sp>
      <p:sp>
        <p:nvSpPr>
          <p:cNvPr id="19" name="Text 16"/>
          <p:cNvSpPr/>
          <p:nvPr/>
        </p:nvSpPr>
        <p:spPr>
          <a:xfrm>
            <a:off x="1143000" y="3141408"/>
            <a:ext cx="6858000" cy="233958"/>
          </a:xfrm>
          <a:prstGeom prst="rect">
            <a:avLst/>
          </a:prstGeom>
          <a:noFill/>
          <a:ln/>
        </p:spPr>
        <p:txBody>
          <a:bodyPr wrap="square" lIns="0" tIns="0" rIns="0" bIns="85090" rtlCol="0" anchor="t">
            <a:spAutoFit/>
          </a:bodyPr>
          <a:lstStyle/>
          <a:p>
            <a:pPr algn="l" indent="0" marL="0">
              <a:lnSpc>
                <a:spcPts val="1100"/>
              </a:lnSpc>
              <a:buNone/>
            </a:pPr>
            <a:r>
              <a:rPr lang="en-US" sz="784" b="1" spc="1" kern="0" dirty="0">
                <a:solidFill>
                  <a:srgbClr val="00FF41"/>
                </a:solidFill>
                <a:latin typeface="Noto Sans" pitchFamily="34" charset="0"/>
                <a:ea typeface="Noto Sans" pitchFamily="34" charset="-122"/>
                <a:cs typeface="Noto Sans" pitchFamily="34" charset="-120"/>
              </a:rPr>
              <a:t>GELİŞTİRİLMESİ GEREKEN ALANLAR</a:t>
            </a:r>
            <a:endParaRPr lang="en-US" sz="784" dirty="0"/>
          </a:p>
        </p:txBody>
      </p:sp>
      <p:sp>
        <p:nvSpPr>
          <p:cNvPr id="20" name="Text 17"/>
          <p:cNvSpPr/>
          <p:nvPr/>
        </p:nvSpPr>
        <p:spPr>
          <a:xfrm>
            <a:off x="1143000" y="3482522"/>
            <a:ext cx="6858000"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Taramalı mod için görsel/ses geri bildirimi eklenmesi</a:t>
            </a:r>
            <a:endParaRPr lang="en-US" sz="674" dirty="0"/>
          </a:p>
        </p:txBody>
      </p:sp>
      <p:sp>
        <p:nvSpPr>
          <p:cNvPr id="21" name="Text 18"/>
          <p:cNvSpPr/>
          <p:nvPr/>
        </p:nvSpPr>
        <p:spPr>
          <a:xfrm>
            <a:off x="1143000" y="3721112"/>
            <a:ext cx="6858000"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Wave geçişlerinde daha kademeli zorluk artışı</a:t>
            </a:r>
            <a:endParaRPr lang="en-US" sz="674" dirty="0"/>
          </a:p>
        </p:txBody>
      </p:sp>
      <p:sp>
        <p:nvSpPr>
          <p:cNvPr id="22" name="Text 19"/>
          <p:cNvSpPr/>
          <p:nvPr/>
        </p:nvSpPr>
        <p:spPr>
          <a:xfrm>
            <a:off x="1143000" y="3959702"/>
            <a:ext cx="6858000"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Farklı enemy türleri ve davranışları eklenmesi</a:t>
            </a:r>
            <a:endParaRPr lang="en-US" sz="674" dirty="0"/>
          </a:p>
        </p:txBody>
      </p:sp>
      <p:sp>
        <p:nvSpPr>
          <p:cNvPr id="23" name="Text 20"/>
          <p:cNvSpPr/>
          <p:nvPr/>
        </p:nvSpPr>
        <p:spPr>
          <a:xfrm>
            <a:off x="1143000" y="4198293"/>
            <a:ext cx="6858000"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Power-up sistemi ve özel abilityler</a:t>
            </a:r>
            <a:endParaRPr lang="en-US" sz="674" dirty="0"/>
          </a:p>
        </p:txBody>
      </p:sp>
      <p:sp>
        <p:nvSpPr>
          <p:cNvPr id="24" name="Text 21"/>
          <p:cNvSpPr/>
          <p:nvPr/>
        </p:nvSpPr>
        <p:spPr>
          <a:xfrm>
            <a:off x="1143000" y="4436883"/>
            <a:ext cx="6858000"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Yüksek skor tablosu ve başarı sistemi</a:t>
            </a:r>
            <a:endParaRPr lang="en-US" sz="674" dirty="0"/>
          </a:p>
        </p:txBody>
      </p:sp>
      <p:sp>
        <p:nvSpPr>
          <p:cNvPr id="25" name="Text 22"/>
          <p:cNvSpPr/>
          <p:nvPr/>
        </p:nvSpPr>
        <p:spPr>
          <a:xfrm>
            <a:off x="1143000" y="4675473"/>
            <a:ext cx="6858000" cy="167153"/>
          </a:xfrm>
          <a:prstGeom prst="rect">
            <a:avLst/>
          </a:prstGeom>
          <a:noFill/>
          <a:ln/>
        </p:spPr>
        <p:txBody>
          <a:bodyPr wrap="none" lIns="127508" tIns="0" rIns="0" bIns="0" rtlCol="0" anchor="t">
            <a:spAutoFit/>
          </a:bodyPr>
          <a:lstStyle/>
          <a:p>
            <a:pPr algn="l" indent="0" marL="0">
              <a:lnSpc>
                <a:spcPts val="1300"/>
              </a:lnSpc>
              <a:buNone/>
            </a:pPr>
            <a:r>
              <a:rPr lang="en-US" sz="674" dirty="0">
                <a:solidFill>
                  <a:srgbClr val="7FFF00"/>
                </a:solidFill>
                <a:latin typeface="Noto Sans" pitchFamily="34" charset="0"/>
                <a:ea typeface="Noto Sans" pitchFamily="34" charset="-122"/>
                <a:cs typeface="Noto Sans" pitchFamily="34" charset="-120"/>
              </a:rPr>
              <a:t>Ses efektleri ve müzik entegrasyonu</a:t>
            </a:r>
            <a:endParaRPr lang="en-US" sz="674" dirty="0"/>
          </a:p>
        </p:txBody>
      </p:sp>
      <p:sp>
        <p:nvSpPr>
          <p:cNvPr id="26" name="Shape 23"/>
          <p:cNvSpPr/>
          <p:nvPr/>
        </p:nvSpPr>
        <p:spPr>
          <a:xfrm>
            <a:off x="1000125" y="5235532"/>
            <a:ext cx="7143750" cy="1868788"/>
          </a:xfrm>
          <a:prstGeom prst="rect">
            <a:avLst/>
          </a:prstGeom>
          <a:solidFill>
            <a:srgbClr val="1A1A1A"/>
          </a:solidFill>
          <a:ln w="198">
            <a:solidFill>
              <a:srgbClr val="00FF41"/>
            </a:solidFill>
            <a:prstDash val="solid"/>
          </a:ln>
        </p:spPr>
      </p:sp>
      <p:sp>
        <p:nvSpPr>
          <p:cNvPr id="27" name="Text 24"/>
          <p:cNvSpPr/>
          <p:nvPr/>
        </p:nvSpPr>
        <p:spPr>
          <a:xfrm>
            <a:off x="1178719" y="5414125"/>
            <a:ext cx="6786563" cy="175022"/>
          </a:xfrm>
          <a:prstGeom prst="rect">
            <a:avLst/>
          </a:prstGeom>
          <a:noFill/>
          <a:ln/>
        </p:spPr>
        <p:txBody>
          <a:bodyPr wrap="none" lIns="0" tIns="0" rIns="0" bIns="0" rtlCol="0" anchor="t">
            <a:spAutoFit/>
          </a:bodyPr>
          <a:lstStyle/>
          <a:p>
            <a:pPr algn="ctr" indent="0" marL="0">
              <a:lnSpc>
                <a:spcPts val="1200"/>
              </a:lnSpc>
              <a:buNone/>
            </a:pPr>
            <a:r>
              <a:rPr lang="en-US" sz="885" b="1" spc="1" kern="0" dirty="0">
                <a:solidFill>
                  <a:srgbClr val="00FF41"/>
                </a:solidFill>
                <a:latin typeface="Noto Sans" pitchFamily="34" charset="0"/>
                <a:ea typeface="Noto Sans" pitchFamily="34" charset="-122"/>
                <a:cs typeface="Noto Sans" pitchFamily="34" charset="-120"/>
              </a:rPr>
              <a:t>GENEL DEĞERLENDİRME</a:t>
            </a:r>
            <a:endParaRPr lang="en-US" sz="885" dirty="0"/>
          </a:p>
        </p:txBody>
      </p:sp>
      <p:sp>
        <p:nvSpPr>
          <p:cNvPr id="28" name="Text 25"/>
          <p:cNvSpPr/>
          <p:nvPr/>
        </p:nvSpPr>
        <p:spPr>
          <a:xfrm>
            <a:off x="1178719" y="5696303"/>
            <a:ext cx="6786563" cy="540051"/>
          </a:xfrm>
          <a:prstGeom prst="rect">
            <a:avLst/>
          </a:prstGeom>
          <a:noFill/>
          <a:ln/>
        </p:spPr>
        <p:txBody>
          <a:bodyPr wrap="square" lIns="0" tIns="0" rIns="0" bIns="0" rtlCol="0" anchor="t">
            <a:spAutoFit/>
          </a:bodyPr>
          <a:lstStyle/>
          <a:p>
            <a:pPr algn="ctr" indent="0" marL="0">
              <a:lnSpc>
                <a:spcPts val="1400"/>
              </a:lnSpc>
              <a:buNone/>
            </a:pPr>
            <a:r>
              <a:rPr lang="en-US" sz="727" dirty="0">
                <a:solidFill>
                  <a:srgbClr val="7FFF00"/>
                </a:solidFill>
                <a:latin typeface="Noto Sans" pitchFamily="34" charset="0"/>
                <a:ea typeface="Noto Sans" pitchFamily="34" charset="-122"/>
                <a:cs typeface="Noto Sans" pitchFamily="34" charset="-120"/>
              </a:rPr>
              <a:t>Proje, dalga tabanlı bir savunma oyununu başarıyla uygulamıştır. Dinamik zorluk artışı, temiz kod mimarisi ve kullanıcı dostu arayüz ile oyun döngüsü tamamlanmıştır. Teknik olarak sağlam bir temel oluşturulmuş olup, geliştirilmesi gereken alanlar ise oyun derinliğini ve oyuncu deneyimini artıracak yeni mekanikler ve sistemlerdir.</a:t>
            </a:r>
            <a:endParaRPr lang="en-US" sz="727" dirty="0"/>
          </a:p>
        </p:txBody>
      </p:sp>
      <p:sp>
        <p:nvSpPr>
          <p:cNvPr id="29" name="Shape 26"/>
          <p:cNvSpPr/>
          <p:nvPr/>
        </p:nvSpPr>
        <p:spPr>
          <a:xfrm>
            <a:off x="1178719" y="6379229"/>
            <a:ext cx="2190731" cy="517922"/>
          </a:xfrm>
          <a:prstGeom prst="rect">
            <a:avLst/>
          </a:prstGeom>
          <a:solidFill>
            <a:srgbClr val="0A0E0D"/>
          </a:solidFill>
          <a:ln w="99">
            <a:solidFill>
              <a:srgbClr val="39FF14"/>
            </a:solidFill>
            <a:prstDash val="solid"/>
          </a:ln>
        </p:spPr>
      </p:sp>
      <p:sp>
        <p:nvSpPr>
          <p:cNvPr id="30" name="Text 27"/>
          <p:cNvSpPr/>
          <p:nvPr/>
        </p:nvSpPr>
        <p:spPr>
          <a:xfrm>
            <a:off x="1264444" y="6464954"/>
            <a:ext cx="2019281" cy="175022"/>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00FF41"/>
                </a:solidFill>
                <a:latin typeface="Noto Sans" pitchFamily="34" charset="0"/>
                <a:ea typeface="Noto Sans" pitchFamily="34" charset="-122"/>
                <a:cs typeface="Noto Sans" pitchFamily="34" charset="-120"/>
              </a:rPr>
              <a:t>8</a:t>
            </a:r>
            <a:endParaRPr lang="en-US" sz="885" dirty="0"/>
          </a:p>
        </p:txBody>
      </p:sp>
      <p:sp>
        <p:nvSpPr>
          <p:cNvPr id="31" name="Text 28"/>
          <p:cNvSpPr/>
          <p:nvPr/>
        </p:nvSpPr>
        <p:spPr>
          <a:xfrm>
            <a:off x="1264444" y="6675695"/>
            <a:ext cx="2019281" cy="107156"/>
          </a:xfrm>
          <a:prstGeom prst="rect">
            <a:avLst/>
          </a:prstGeom>
          <a:noFill/>
          <a:ln/>
        </p:spPr>
        <p:txBody>
          <a:bodyPr wrap="none" lIns="0" tIns="0" rIns="0" bIns="0" rtlCol="0" anchor="t">
            <a:spAutoFit/>
          </a:bodyPr>
          <a:lstStyle/>
          <a:p>
            <a:pPr algn="ctr" indent="0" marL="0">
              <a:lnSpc>
                <a:spcPts val="700"/>
              </a:lnSpc>
              <a:buNone/>
            </a:pPr>
            <a:r>
              <a:rPr lang="en-US" sz="568" dirty="0">
                <a:solidFill>
                  <a:srgbClr val="7FFF00"/>
                </a:solidFill>
                <a:latin typeface="Noto Sans" pitchFamily="34" charset="0"/>
                <a:ea typeface="Noto Sans" pitchFamily="34" charset="-122"/>
                <a:cs typeface="Noto Sans" pitchFamily="34" charset="-120"/>
              </a:rPr>
              <a:t>SCRIPT ENTEGRE</a:t>
            </a:r>
            <a:endParaRPr lang="en-US" sz="568" dirty="0"/>
          </a:p>
        </p:txBody>
      </p:sp>
      <p:sp>
        <p:nvSpPr>
          <p:cNvPr id="32" name="Shape 29"/>
          <p:cNvSpPr/>
          <p:nvPr/>
        </p:nvSpPr>
        <p:spPr>
          <a:xfrm>
            <a:off x="3476606" y="6379229"/>
            <a:ext cx="2190759" cy="517922"/>
          </a:xfrm>
          <a:prstGeom prst="rect">
            <a:avLst/>
          </a:prstGeom>
          <a:solidFill>
            <a:srgbClr val="0A0E0D"/>
          </a:solidFill>
          <a:ln w="99">
            <a:solidFill>
              <a:srgbClr val="39FF14"/>
            </a:solidFill>
            <a:prstDash val="solid"/>
          </a:ln>
        </p:spPr>
      </p:sp>
      <p:sp>
        <p:nvSpPr>
          <p:cNvPr id="33" name="Text 30"/>
          <p:cNvSpPr/>
          <p:nvPr/>
        </p:nvSpPr>
        <p:spPr>
          <a:xfrm>
            <a:off x="3562331" y="6464954"/>
            <a:ext cx="2019309" cy="175022"/>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00FF41"/>
                </a:solidFill>
                <a:latin typeface="Noto Sans" pitchFamily="34" charset="0"/>
                <a:ea typeface="Noto Sans" pitchFamily="34" charset="-122"/>
                <a:cs typeface="Noto Sans" pitchFamily="34" charset="-120"/>
              </a:rPr>
              <a:t>10</a:t>
            </a:r>
            <a:endParaRPr lang="en-US" sz="885" dirty="0"/>
          </a:p>
        </p:txBody>
      </p:sp>
      <p:sp>
        <p:nvSpPr>
          <p:cNvPr id="34" name="Text 31"/>
          <p:cNvSpPr/>
          <p:nvPr/>
        </p:nvSpPr>
        <p:spPr>
          <a:xfrm>
            <a:off x="3562331" y="6675695"/>
            <a:ext cx="2019309" cy="107156"/>
          </a:xfrm>
          <a:prstGeom prst="rect">
            <a:avLst/>
          </a:prstGeom>
          <a:noFill/>
          <a:ln/>
        </p:spPr>
        <p:txBody>
          <a:bodyPr wrap="none" lIns="0" tIns="0" rIns="0" bIns="0" rtlCol="0" anchor="t">
            <a:spAutoFit/>
          </a:bodyPr>
          <a:lstStyle/>
          <a:p>
            <a:pPr algn="ctr" indent="0" marL="0">
              <a:lnSpc>
                <a:spcPts val="700"/>
              </a:lnSpc>
              <a:buNone/>
            </a:pPr>
            <a:r>
              <a:rPr lang="en-US" sz="568" dirty="0">
                <a:solidFill>
                  <a:srgbClr val="7FFF00"/>
                </a:solidFill>
                <a:latin typeface="Noto Sans" pitchFamily="34" charset="0"/>
                <a:ea typeface="Noto Sans" pitchFamily="34" charset="-122"/>
                <a:cs typeface="Noto Sans" pitchFamily="34" charset="-120"/>
              </a:rPr>
              <a:t>MEKANIK DETAYI</a:t>
            </a:r>
            <a:endParaRPr lang="en-US" sz="568" dirty="0"/>
          </a:p>
        </p:txBody>
      </p:sp>
      <p:sp>
        <p:nvSpPr>
          <p:cNvPr id="35" name="Shape 32"/>
          <p:cNvSpPr/>
          <p:nvPr/>
        </p:nvSpPr>
        <p:spPr>
          <a:xfrm>
            <a:off x="5774522" y="6379229"/>
            <a:ext cx="2190731" cy="517922"/>
          </a:xfrm>
          <a:prstGeom prst="rect">
            <a:avLst/>
          </a:prstGeom>
          <a:solidFill>
            <a:srgbClr val="0A0E0D"/>
          </a:solidFill>
          <a:ln w="99">
            <a:solidFill>
              <a:srgbClr val="39FF14"/>
            </a:solidFill>
            <a:prstDash val="solid"/>
          </a:ln>
        </p:spPr>
      </p:sp>
      <p:sp>
        <p:nvSpPr>
          <p:cNvPr id="36" name="Text 33"/>
          <p:cNvSpPr/>
          <p:nvPr/>
        </p:nvSpPr>
        <p:spPr>
          <a:xfrm>
            <a:off x="5860247" y="6464954"/>
            <a:ext cx="2019281" cy="189309"/>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00FF41"/>
                </a:solidFill>
                <a:latin typeface="Noto Sans" pitchFamily="34" charset="0"/>
                <a:ea typeface="Noto Sans" pitchFamily="34" charset="-122"/>
                <a:cs typeface="Noto Sans" pitchFamily="34" charset="-120"/>
              </a:rPr>
              <a:t>∞</a:t>
            </a:r>
            <a:endParaRPr lang="en-US" sz="885" dirty="0"/>
          </a:p>
        </p:txBody>
      </p:sp>
      <p:sp>
        <p:nvSpPr>
          <p:cNvPr id="37" name="Text 34"/>
          <p:cNvSpPr/>
          <p:nvPr/>
        </p:nvSpPr>
        <p:spPr>
          <a:xfrm>
            <a:off x="5860247" y="6689982"/>
            <a:ext cx="2019281" cy="107156"/>
          </a:xfrm>
          <a:prstGeom prst="rect">
            <a:avLst/>
          </a:prstGeom>
          <a:noFill/>
          <a:ln/>
        </p:spPr>
        <p:txBody>
          <a:bodyPr wrap="none" lIns="0" tIns="0" rIns="0" bIns="0" rtlCol="0" anchor="t">
            <a:spAutoFit/>
          </a:bodyPr>
          <a:lstStyle/>
          <a:p>
            <a:pPr algn="ctr" indent="0" marL="0">
              <a:lnSpc>
                <a:spcPts val="700"/>
              </a:lnSpc>
              <a:buNone/>
            </a:pPr>
            <a:r>
              <a:rPr lang="en-US" sz="568" dirty="0">
                <a:solidFill>
                  <a:srgbClr val="7FFF00"/>
                </a:solidFill>
                <a:latin typeface="Noto Sans" pitchFamily="34" charset="0"/>
                <a:ea typeface="Noto Sans" pitchFamily="34" charset="-122"/>
                <a:cs typeface="Noto Sans" pitchFamily="34" charset="-120"/>
              </a:rPr>
              <a:t>POTANSIYEL</a:t>
            </a:r>
            <a:endParaRPr lang="en-US" sz="56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2025-11-02T14:27:50Z</dcterms:created>
  <dcterms:modified xsi:type="dcterms:W3CDTF">2025-11-02T14:27:50Z</dcterms:modified>
</cp:coreProperties>
</file>